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ROSSI MISSION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468880"/>
            <a:ext cx="27432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CCCCDD"/>
                </a:solidFill>
                <a:latin typeface="Calibri"/>
              </a:defRPr>
            </a:pPr>
            <a:r>
              <a:t>Product Strategy &amp; Discovery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BB"/>
                </a:solidFill>
                <a:latin typeface="Calibri"/>
              </a:defRPr>
            </a:pPr>
            <a:r>
              <a:t>A product-craft approach to validating and scaling a cultural platform for graffiti artists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A9D8F"/>
                </a:solidFill>
                <a:latin typeface="Calibri"/>
              </a:defRPr>
            </a:pPr>
            <a:r>
              <a:t>V2 — Palette System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AA"/>
                </a:solidFill>
                <a:latin typeface="Calibri"/>
              </a:defRPr>
            </a:pPr>
            <a:r>
              <a:t>Prepared for Rossi Leadership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77799"/>
                </a:solidFill>
                <a:latin typeface="Calibri"/>
              </a:defRPr>
            </a:pPr>
            <a:r>
              <a:t>February 2026  |  Product Management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C0392B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1.  The Customer Problem — Who we serve and why it matters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2.  The Market — Who Rossi competes with (named competitors + data)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3.  What We Know — Evidence from market research and operations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4.  How Top Artists Sell Today — Real revenue models, real numbers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5.  What We Believe — Hypotheses that need testing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6.  The Product — What Rossi actually sells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7.  Product Strategy — Year 1-3 approach with partner targets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8.  Product Risks — And how we surface them early</a:t>
            </a:r>
          </a:p>
          <a:p>
            <a:pPr algn="l">
              <a:spcAft>
                <a:spcPts val="1120"/>
              </a:spcAft>
              <a:defRPr sz="1800" b="0" i="0">
                <a:solidFill>
                  <a:srgbClr val="2D2D2D"/>
                </a:solidFill>
                <a:latin typeface="Calibri"/>
              </a:defRPr>
            </a:pPr>
            <a:r>
              <a:t>9.  The 90-Day Discovery Plan — $10K to transform plan into evidence</a:t>
            </a:r>
          </a:p>
          <a:p>
            <a:pPr algn="l">
              <a:spcAft>
                <a:spcPts val="1120"/>
              </a:spcAft>
              <a:defRPr sz="1800" b="1" i="0">
                <a:solidFill>
                  <a:srgbClr val="2D2D2D"/>
                </a:solidFill>
                <a:latin typeface="Calibri"/>
              </a:defRPr>
            </a:pPr>
            <a:r>
              <a:t>10. Recommendation — Conditional 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Customer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Before we talk about the product, we need to talk about the customer.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The Artist's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600" b="1" i="0">
                <a:solidFill>
                  <a:srgbClr val="2D2D2D"/>
                </a:solidFill>
                <a:latin typeface="Calibri"/>
              </a:defRPr>
            </a:pPr>
            <a:r>
              <a:t>Graffiti artists face a career ceiling that other artists do not.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Traditional galleries treat street art as illegitimate — no gallery path, no museum trajectory.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Streetwear brands pay flat fees for designs. Artists are vendors, not partners.</a:t>
            </a:r>
          </a:p>
          <a:p>
            <a:pPr algn="l">
              <a:spcAft>
                <a:spcPts val="560"/>
              </a:spcAft>
              <a:defRPr sz="1600" b="0" i="1">
                <a:solidFill>
                  <a:srgbClr val="2D2D2D"/>
                </a:solidFill>
                <a:latin typeface="Calibri"/>
              </a:defRPr>
            </a:pPr>
            <a:r>
              <a:t>  KAWS x Uniqlo, Futura x Kenzo, Stash x Nike — licensing fees $10K-$500K, royalties 5-15%.</a:t>
            </a:r>
          </a:p>
          <a:p>
            <a:pPr algn="l">
              <a:spcAft>
                <a:spcPts val="560"/>
              </a:spcAft>
              <a:defRPr sz="1600" b="0" i="1">
                <a:solidFill>
                  <a:srgbClr val="2D2D2D"/>
                </a:solidFill>
                <a:latin typeface="Calibri"/>
              </a:defRPr>
            </a:pPr>
            <a:r>
              <a:t>  The artist creates the value. The brand captures most of it.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Online platforms offer distribution but no curation, career development, or community.</a:t>
            </a:r>
          </a:p>
          <a:p>
            <a:pPr algn="l">
              <a:spcAft>
                <a:spcPts val="560"/>
              </a:spcAft>
              <a:defRPr sz="1600" b="0" i="1">
                <a:solidFill>
                  <a:srgbClr val="2D2D2D"/>
                </a:solidFill>
                <a:latin typeface="Calibri"/>
              </a:defRPr>
            </a:pPr>
            <a:r>
              <a:t>  Etsy: 10,000+ graffiti listings, 6.5% fee — but no authentication, race to bottom.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1" i="1">
                <a:solidFill>
                  <a:srgbClr val="2D2D2D"/>
                </a:solidFill>
                <a:latin typeface="Calibri"/>
              </a:defRPr>
            </a:pPr>
            <a:r>
              <a:t>Result: Artists with signature styles and cultural credibility who cannot convert that into sustainable careers.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Brand Collaborations + Online Platforms]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The Proof: It Can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Barry McGee: Mission District tagger → Venice Biennale (2001)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Chito: Custom jacket reworks → Givenchy collection (2020)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KAWS: Brooklyn tagger → $15M auction record, 4.8M Instagram followers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Shepard Fairey: Sticker campaign → OBEY (full brand ownership, 2.1M followers)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1" i="0">
                <a:solidFill>
                  <a:srgbClr val="2D2D2D"/>
                </a:solidFill>
                <a:latin typeface="Calibri"/>
              </a:defRPr>
            </a:pPr>
            <a:r>
              <a:t>They all had the same formula:</a:t>
            </a:r>
          </a:p>
          <a:p>
            <a:pPr algn="l">
              <a:spcAft>
                <a:spcPts val="560"/>
              </a:spcAft>
              <a:defRPr sz="1600" b="0" i="1">
                <a:solidFill>
                  <a:srgbClr val="2D2D2D"/>
                </a:solidFill>
                <a:latin typeface="Calibri"/>
              </a:defRPr>
            </a:pPr>
            <a:r>
              <a:t>    Signature style + Champion + Documentation = Career launch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But they got there through luck and individual connections, not through any system.</a:t>
            </a:r>
          </a:p>
          <a:p>
            <a:pPr algn="l">
              <a:spcAft>
                <a:spcPts val="560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60"/>
              </a:spcAft>
              <a:defRPr sz="1600" b="1" i="0">
                <a:solidFill>
                  <a:srgbClr val="2D2D2D"/>
                </a:solidFill>
                <a:latin typeface="Calibri"/>
              </a:defRPr>
            </a:pPr>
            <a:r>
              <a:t>The problem statement:</a:t>
            </a:r>
          </a:p>
          <a:p>
            <a:pPr algn="l">
              <a:spcAft>
                <a:spcPts val="560"/>
              </a:spcAft>
              <a:defRPr sz="1600" b="1" i="1">
                <a:solidFill>
                  <a:srgbClr val="2D2D2D"/>
                </a:solidFill>
                <a:latin typeface="Calibri"/>
              </a:defRPr>
            </a:pPr>
            <a:r>
              <a:t>There is no institution that systematically discovers, develops, and launches graffiti artist careers while keeping artists as economic partners.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Tier 1 Artists; BCG Assessment]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Who Rossi competes with — named competitors, real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The Competitive Landscape: Named 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A6B9F"/>
                </a:solidFill>
                <a:latin typeface="Calibri"/>
              </a:defRPr>
            </a:pPr>
            <a:r>
              <a:t>GraffitiStreet.com</a:t>
            </a:r>
          </a:p>
          <a:p/>
          <a:p>
            <a:pPr algn="ctr">
              <a:defRPr sz="1100">
                <a:solidFill>
                  <a:srgbClr val="2D2D2D"/>
                </a:solidFill>
                <a:latin typeface="Calibri"/>
              </a:defRPr>
            </a:pPr>
            <a:r>
              <a:t>100+ artists</a:t>
            </a:r>
            <a:br/>
            <a:r>
              <a:t>40-50% commission</a:t>
            </a:r>
            <a:br/>
            <a:r>
              <a:t>Global shipping</a:t>
            </a:r>
            <a:br/>
            <a:r>
              <a:t>Online gallery only</a:t>
            </a:r>
          </a:p>
          <a:p/>
          <a:p>
            <a:pPr algn="ctr">
              <a:defRPr sz="1000" b="1">
                <a:solidFill>
                  <a:srgbClr val="888888"/>
                </a:solidFill>
              </a:defRPr>
            </a:pPr>
            <a:r>
              <a:t>Key Artists: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Banksy, Invader,</a:t>
            </a:r>
            <a:br/>
            <a:r>
              <a:t>Os Gemeos, Spidertag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A9D8F"/>
                </a:solidFill>
                <a:latin typeface="Calibri"/>
              </a:defRPr>
            </a:pPr>
            <a:r>
              <a:t>DirtyPilot.com</a:t>
            </a:r>
          </a:p>
          <a:p/>
          <a:p>
            <a:pPr algn="ctr">
              <a:defRPr sz="1100">
                <a:solidFill>
                  <a:srgbClr val="2D2D2D"/>
                </a:solidFill>
                <a:latin typeface="Calibri"/>
              </a:defRPr>
            </a:pPr>
            <a:r>
              <a:t>Curated prints</a:t>
            </a:r>
            <a:br/>
            <a:r>
              <a:t>Authentication certs</a:t>
            </a:r>
            <a:br/>
            <a:r>
              <a:t>Limited editions</a:t>
            </a:r>
            <a:br/>
            <a:r>
              <a:t>No physical space</a:t>
            </a:r>
          </a:p>
          <a:p/>
          <a:p>
            <a:pPr algn="ctr">
              <a:defRPr sz="1000" b="1">
                <a:solidFill>
                  <a:srgbClr val="888888"/>
                </a:solidFill>
              </a:defRPr>
            </a:pPr>
            <a:r>
              <a:t>Key Artists: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Cope2, Lady Pink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76F51"/>
                </a:solidFill>
                <a:latin typeface="Calibri"/>
              </a:defRPr>
            </a:pPr>
            <a:r>
              <a:t>Etsy</a:t>
            </a:r>
          </a:p>
          <a:p/>
          <a:p>
            <a:pPr algn="ctr">
              <a:defRPr sz="1100">
                <a:solidFill>
                  <a:srgbClr val="2D2D2D"/>
                </a:solidFill>
                <a:latin typeface="Calibri"/>
              </a:defRPr>
            </a:pPr>
            <a:r>
              <a:t>10,000+ listings</a:t>
            </a:r>
            <a:br/>
            <a:r>
              <a:t>6.5% fee</a:t>
            </a:r>
            <a:br/>
            <a:r>
              <a:t>No curation</a:t>
            </a:r>
            <a:br/>
            <a:r>
              <a:t>Auth problems</a:t>
            </a:r>
          </a:p>
          <a:p/>
          <a:p>
            <a:pPr algn="ctr">
              <a:defRPr sz="1000" b="1">
                <a:solidFill>
                  <a:srgbClr val="888888"/>
                </a:solidFill>
              </a:defRPr>
            </a:pPr>
            <a:r>
              <a:t>Key Artists: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Mass market</a:t>
            </a:r>
            <a:br/>
            <a:r>
              <a:t>Unauthorized reprods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71600"/>
            <a:ext cx="26517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StockX</a:t>
            </a:r>
          </a:p>
          <a:p/>
          <a:p>
            <a:pPr algn="ctr">
              <a:defRPr sz="1100">
                <a:solidFill>
                  <a:srgbClr val="2D2D2D"/>
                </a:solidFill>
                <a:latin typeface="Calibri"/>
              </a:defRPr>
            </a:pPr>
            <a:r>
              <a:t>Authenticated sales</a:t>
            </a:r>
            <a:br/>
            <a:r>
              <a:t>9.5% seller fee</a:t>
            </a:r>
            <a:br/>
            <a:r>
              <a:t>Auction model</a:t>
            </a:r>
            <a:br/>
            <a:r>
              <a:t>Collectibles focus</a:t>
            </a:r>
          </a:p>
          <a:p/>
          <a:p>
            <a:pPr algn="ctr">
              <a:defRPr sz="1000" b="1">
                <a:solidFill>
                  <a:srgbClr val="888888"/>
                </a:solidFill>
              </a:defRPr>
            </a:pPr>
            <a:r>
              <a:t>Key Artists: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KAWS, Futura,</a:t>
            </a:r>
            <a:br/>
            <a:r>
              <a:t>Cope2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20"/>
              </a:spcAft>
              <a:defRPr sz="1400" b="1" i="0">
                <a:solidFill>
                  <a:srgbClr val="2D2D2D"/>
                </a:solidFill>
                <a:latin typeface="Calibri"/>
              </a:defRPr>
            </a:pPr>
            <a:r>
              <a:t>Rossi's differentiator: No competitor combines curation + physical gallery + artist development + 50/50 economics.</a:t>
            </a:r>
          </a:p>
          <a:p>
            <a:pPr algn="l">
              <a:spcAft>
                <a:spcPts val="820"/>
              </a:spcAft>
              <a:defRPr sz="1400" b="0" i="1">
                <a:solidFill>
                  <a:srgbClr val="2D2D2D"/>
                </a:solidFill>
                <a:latin typeface="Calibri"/>
              </a:defRPr>
            </a:pPr>
            <a:r>
              <a:t>GraffitiStreet has scale. Etsy has reach. Neither builds artist careers.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Competitive Landscape]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" name="Rectangle 43"/>
          <p:cNvSpPr/>
          <p:nvPr/>
        </p:nvSpPr>
        <p:spPr>
          <a:xfrm>
            <a:off x="457200" y="3822192"/>
            <a:ext cx="11247120" cy="457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816352"/>
            <a:ext cx="11247120" cy="457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How Top Artists Actually Sell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Followers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Price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Artist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Followers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Price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KAWS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4.8M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DDTStore, Brooklyn Museum, StockX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$200-$50K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Toys + drops + brand collabs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Shepard Fairey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2.1M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OBEYClothing.com, galleries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$30-$100K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Full brand 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Cope2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400K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Cope2-Merch.com, DirtyPilot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$200-$25K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D2C + gallery + prints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Lady Pink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200K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LadyPinkNYC.com, Wynwood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337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$50-$50K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D2C + gallery + brand collabs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Futura 2000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500K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Wynwood Shop, StockX, Kenzo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$100-$200K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Fashion collabs + gallery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400" b="1" i="0">
                <a:solidFill>
                  <a:srgbClr val="2D2D2D"/>
                </a:solidFill>
                <a:latin typeface="Calibri"/>
              </a:defRPr>
            </a:pPr>
            <a:r>
              <a:t>Key pattern: Every successful artist uses 3-5 channels simultaneously.</a:t>
            </a:r>
          </a:p>
          <a:p>
            <a:pPr algn="l">
              <a:spcAft>
                <a:spcPts val="679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  <a:r>
              <a:t>Most use hybrid model: D2C website + Instagram drops + gallery + brand collabs.</a:t>
            </a:r>
          </a:p>
          <a:p>
            <a:pPr algn="l">
              <a:spcAft>
                <a:spcPts val="679"/>
              </a:spcAft>
              <a:defRPr sz="1400" b="0" i="1">
                <a:solidFill>
                  <a:srgbClr val="2D2D2D"/>
                </a:solidFill>
                <a:latin typeface="Calibri"/>
              </a:defRPr>
            </a:pPr>
            <a:r>
              <a:t>Rossi's multi-channel approach is validated by how these artists already operate.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Tier 1 &amp; 2 Artist Profiles, Instagram Data]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Six Revenue Models — All Proven in the Wild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5661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A9D8F"/>
                </a:solidFill>
                <a:latin typeface="Calibri"/>
              </a:defRPr>
            </a:pPr>
            <a:r>
              <a:t>D2C Shops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Cope2-Merch.com</a:t>
            </a:r>
            <a:br/>
            <a:r>
              <a:t>SaberOne.com</a:t>
            </a:r>
            <a:br/>
            <a:r>
              <a:t>LadyPinkNYC.com</a:t>
            </a:r>
          </a:p>
          <a:p/>
          <a:p>
            <a:pPr algn="ctr">
              <a:defRPr sz="1300" b="1">
                <a:solidFill>
                  <a:srgbClr val="2A9D8F"/>
                </a:solidFill>
              </a:defRPr>
            </a:pPr>
            <a:r>
              <a:t>70-90%</a:t>
            </a:r>
            <a:br/>
            <a:r>
              <a:t>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5661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A6B9F"/>
                </a:solidFill>
                <a:latin typeface="Calibri"/>
              </a:defRPr>
            </a:pPr>
            <a:r>
              <a:t>Gallery Rep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Retna, Mear One</a:t>
            </a:r>
            <a:br/>
            <a:r>
              <a:t>Os Gemeos</a:t>
            </a:r>
          </a:p>
          <a:p/>
          <a:p>
            <a:pPr algn="ctr">
              <a:defRPr sz="1300" b="1">
                <a:solidFill>
                  <a:srgbClr val="3A6B9F"/>
                </a:solidFill>
              </a:defRPr>
            </a:pPr>
            <a:r>
              <a:t>50-60%</a:t>
            </a:r>
            <a:br/>
            <a:r>
              <a:t>to artist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5661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6F51"/>
                </a:solidFill>
                <a:latin typeface="Calibri"/>
              </a:defRPr>
            </a:pPr>
            <a:r>
              <a:t>Print Editions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DirtyPilot</a:t>
            </a:r>
            <a:br/>
            <a:r>
              <a:t>Edition Copenhagen</a:t>
            </a:r>
          </a:p>
          <a:p/>
          <a:p>
            <a:pPr algn="ctr">
              <a:defRPr sz="1300" b="1">
                <a:solidFill>
                  <a:srgbClr val="E76F51"/>
                </a:solidFill>
              </a:defRPr>
            </a:pPr>
            <a:r>
              <a:t>50/50</a:t>
            </a:r>
            <a:br/>
            <a:r>
              <a:t>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931920"/>
            <a:ext cx="35661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Marketplaces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Etsy, Redbubble</a:t>
            </a:r>
            <a:br/>
            <a:r>
              <a:t>StockX</a:t>
            </a:r>
          </a:p>
          <a:p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80-94%</a:t>
            </a:r>
            <a:br/>
            <a:r>
              <a:t>to artist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931920"/>
            <a:ext cx="35661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Brand Collabs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KAWS x Dior</a:t>
            </a:r>
            <a:br/>
            <a:r>
              <a:t>Futura x Kenzo</a:t>
            </a:r>
          </a:p>
          <a:p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$10K-$500K</a:t>
            </a:r>
            <a:br/>
            <a:r>
              <a:t>licensing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5661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Collectives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Alberta Street</a:t>
            </a:r>
            <a:br/>
            <a:r>
              <a:t>Side Rail</a:t>
            </a:r>
          </a:p>
          <a:p/>
          <a:p>
            <a:pPr algn="ctr">
              <a:defRPr sz="1300" b="1">
                <a:solidFill>
                  <a:srgbClr val="8E44AD"/>
                </a:solidFill>
              </a:defRPr>
            </a:pPr>
            <a:r>
              <a:t>70-100%</a:t>
            </a:r>
            <a:br/>
            <a:r>
              <a:t>to artist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Revenue Models Observed]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What We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Evidence, not opinions.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The Market Is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A9D8F"/>
                </a:solidFill>
                <a:latin typeface="Calibri"/>
              </a:defRPr>
            </a:pPr>
            <a:r>
              <a:t>$6.8B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Global Street Art Market</a:t>
            </a:r>
            <a:br/>
            <a:r>
              <a:t>8.2% CAGR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A6B9F"/>
                </a:solidFill>
                <a:latin typeface="Calibri"/>
              </a:defRPr>
            </a:pPr>
            <a:r>
              <a:t>50+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Active Graffiti Artists</a:t>
            </a:r>
            <a:br/>
            <a:r>
              <a:t>With Merch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76F51"/>
                </a:solidFill>
                <a:latin typeface="Calibri"/>
              </a:defRPr>
            </a:pPr>
            <a:r>
              <a:t>6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Proven Revenue Models</a:t>
            </a:r>
            <a:br/>
            <a:r>
              <a:t>All Active in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2-4%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Valencia St Vacancy</a:t>
            </a:r>
            <a:br/>
            <a:r>
              <a:t>(vs 6-8% citywide)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Creative Growth Art Center validates the exact model at scale: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Nonprofit gallery  |  50/50 artist split  |  140 artists  |  $3.26M revenue  |  50 years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Form 990 data (EIN 23-7319028): Art sales ranged $499K–$1.06M over 5 years (volatile).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Grants provided 30–41% of revenue every year — the stabilizer. Personnel: 57% of costs.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What Rossi already has: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80+ roster artists  |  251 SKUs  |  791 Valencia St  |  Operating Shopify store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"Rossi is the graffiti/street art version of Creative Growth, serving an underserved</a:t>
            </a:r>
          </a:p>
          <a:p>
            <a:pPr algn="l">
              <a:spcAft>
                <a:spcPts val="5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artist community in SF’s Mission District." — Infinitely more credible than Supreme or Stüssy.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Creative Growth Form 990 (2020–2024); Marketplace Research (commission rates)]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The Critical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18320" cy="2011680"/>
          </a:xfrm>
          <a:prstGeom prst="roundRect">
            <a:avLst/>
          </a:prstGeom>
          <a:solidFill>
            <a:srgbClr val="FFF3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C0392B"/>
                </a:solidFill>
                <a:latin typeface="Calibri"/>
              </a:defRPr>
            </a:pPr>
            <a:r>
              <a:t>We do not know Rossi's current revenue.</a:t>
            </a:r>
          </a:p>
          <a:p>
            <a:pPr algn="ctr">
              <a:defRPr sz="1600">
                <a:solidFill>
                  <a:srgbClr val="2D2D2D"/>
                </a:solidFill>
                <a:latin typeface="Calibri"/>
              </a:defRPr>
            </a:pPr>
            <a:r>
              <a:t>The business plan projects $780K Year 1, but no one has pulled the POS data.</a:t>
            </a:r>
            <a:br/>
            <a:r>
              <a:t>Modeled estimate: $245K-$390K annually. The gap between $250K and $400K</a:t>
            </a:r>
            <a:br/>
            <a:r>
              <a:t>determines whether the Year 1 target is ambitious or unrealistic.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600" b="0" i="1">
                <a:solidFill>
                  <a:srgbClr val="2D2D2D"/>
                </a:solidFill>
                <a:latin typeface="Calibri"/>
              </a:defRPr>
            </a:pPr>
            <a:r>
              <a:t>The Underwriter's verdict: "Analysis is not evidence. This is a world-class plan. It needs real data."</a:t>
            </a:r>
          </a:p>
          <a:p>
            <a:pPr algn="l">
              <a:spcAft>
                <a:spcPts val="719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719"/>
              </a:spcAft>
              <a:defRPr sz="1600" b="0" i="0">
                <a:solidFill>
                  <a:srgbClr val="2D2D2D"/>
                </a:solidFill>
                <a:latin typeface="Calibri"/>
              </a:defRPr>
            </a:pPr>
            <a:r>
              <a:t>Meanwhile: Cope2 runs Cope2-Merch.com with direct D2C sales. Lady Pink sells through LadyPinkNYC.com.</a:t>
            </a:r>
          </a:p>
          <a:p>
            <a:pPr algn="l">
              <a:spcAft>
                <a:spcPts val="719"/>
              </a:spcAft>
              <a:defRPr sz="1600" b="1" i="0">
                <a:solidFill>
                  <a:srgbClr val="2D2D2D"/>
                </a:solidFill>
                <a:latin typeface="Calibri"/>
              </a:defRPr>
            </a:pPr>
            <a:r>
              <a:t>Artists are already proving online revenue works — Rossi just hasn't measured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Underwriter Audit — 82/100; Marketplace Research — D2C Shops]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What We Believe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Hypotheses are essential. But they must be tested before we build on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Core Hypotheses — Ranked by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HIGH RISK (Unvalidated)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Workshops discover talent (10% conversion)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Zero workshops conducted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Test: 1 pilot workshop, track 90 days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Content drives art sales (GX1000 model)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No attribution data exists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Test: Tag links, track funnel 60 days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Residencies launch careers (80% rate)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Zero residencies completed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Test: Run 1 residency, document outcomes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MEDIUM RISK (Partially Validated)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Scarcity works for emerging artists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KAWS proved it (4.8M followers, $200-$50K range)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But Rossi is not KAWS. Test: monitor sell-through 6 months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Artists stay for 50/50 split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Alberta St Gallery uses 70/30. Side Rail uses 100%.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Rossi must prove 50/50 + development = better deal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Partner galleries will join network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Real targets identified (see Strategy slide)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Test: Pitch 3 galleries, get 1 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BCG Assessment — Risk Register; Marketplace Research — Commission Rates]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What Rossi actually sells — three products, one platform.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Rossi Sells Three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A9D8F"/>
                </a:solidFill>
                <a:latin typeface="Calibri"/>
              </a:defRPr>
            </a:pPr>
            <a:r>
              <a:t>CURATED ART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Gallery + Online</a:t>
            </a:r>
          </a:p>
          <a:p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47% of Year 1 Revenue</a:t>
            </a:r>
          </a:p>
          <a:p/>
          <a:p>
            <a:pPr algn="ctr">
              <a:defRPr sz="1300">
                <a:solidFill>
                  <a:srgbClr val="2D2D2D"/>
                </a:solidFill>
              </a:defRPr>
            </a:pPr>
            <a:r>
              <a:t>Originals, limited prints, merch</a:t>
            </a:r>
            <a:br/>
            <a:r>
              <a:t>250 SKU cap per location</a:t>
            </a:r>
            <a:br/>
            <a:r>
              <a:t>50/50 artist split</a:t>
            </a:r>
            <a:br/>
            <a:r>
              <a:t>Physical + Shopify</a:t>
            </a:r>
          </a:p>
          <a:p/>
          <a:p>
            <a:pPr algn="ctr">
              <a:defRPr sz="1100">
                <a:solidFill>
                  <a:srgbClr val="668866"/>
                </a:solidFill>
              </a:defRPr>
            </a:pPr>
            <a:r>
              <a:t>Benchmark: GraffitiStreet (40-50%)</a:t>
            </a:r>
          </a:p>
          <a:p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PMF Status: VALIDATED</a:t>
            </a:r>
          </a:p>
          <a:p>
            <a:pPr algn="ctr">
              <a:defRPr sz="1100">
                <a:solidFill>
                  <a:srgbClr val="888888"/>
                </a:solidFill>
              </a:defRPr>
            </a:pPr>
            <a:r>
              <a:t>(Product exists, customers buy)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A6B9F"/>
                </a:solidFill>
                <a:latin typeface="Calibri"/>
              </a:defRPr>
            </a:pPr>
            <a:r>
              <a:t>EXPERIENCES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Workshops + Events + Residencies</a:t>
            </a:r>
          </a:p>
          <a:p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38% of Year 1 Revenue</a:t>
            </a:r>
          </a:p>
          <a:p/>
          <a:p>
            <a:pPr algn="ctr">
              <a:defRPr sz="1300">
                <a:solidFill>
                  <a:srgbClr val="2D2D2D"/>
                </a:solidFill>
              </a:defRPr>
            </a:pPr>
            <a:r>
              <a:t>Public + corporate workshops</a:t>
            </a:r>
            <a:br/>
            <a:r>
              <a:t>Monthly gallery events</a:t>
            </a:r>
            <a:br/>
            <a:r>
              <a:t>Sponsored residencies</a:t>
            </a:r>
            <a:br/>
            <a:r>
              <a:t>Talent discovery pipeline</a:t>
            </a:r>
          </a:p>
          <a:p/>
          <a:p>
            <a:pPr algn="ctr">
              <a:defRPr sz="1100">
                <a:solidFill>
                  <a:srgbClr val="668866"/>
                </a:solidFill>
              </a:defRPr>
            </a:pPr>
            <a:r>
              <a:t>Benchmark: Creative Growth ($3.26M)</a:t>
            </a:r>
          </a:p>
          <a:p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PMF Status: UNVALIDATED</a:t>
            </a:r>
          </a:p>
          <a:p>
            <a:pPr algn="ctr">
              <a:defRPr sz="1100">
                <a:solidFill>
                  <a:srgbClr val="888888"/>
                </a:solidFill>
              </a:defRPr>
            </a:pPr>
            <a:r>
              <a:t>(Zero workshops or residencies run)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76F51"/>
                </a:solidFill>
                <a:latin typeface="Calibri"/>
              </a:defRPr>
            </a:pPr>
            <a:r>
              <a:t>BRAND PARTNERSHIPS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Collaborations + Licensing</a:t>
            </a:r>
          </a:p>
          <a:p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15% of Year 1 Revenue</a:t>
            </a:r>
          </a:p>
          <a:p/>
          <a:p>
            <a:pPr algn="ctr">
              <a:defRPr sz="1300">
                <a:solidFill>
                  <a:srgbClr val="2D2D2D"/>
                </a:solidFill>
              </a:defRPr>
            </a:pPr>
            <a:r>
              <a:t>3-5 per year (scarcity cap)</a:t>
            </a:r>
            <a:br/>
            <a:r>
              <a:t>70% artist / 30% Rossi</a:t>
            </a:r>
            <a:br/>
            <a:r>
              <a:t>Artist veto power</a:t>
            </a:r>
            <a:br/>
            <a:r>
              <a:t>Cultural fit required</a:t>
            </a:r>
          </a:p>
          <a:p/>
          <a:p>
            <a:pPr algn="ctr">
              <a:defRPr sz="1100">
                <a:solidFill>
                  <a:srgbClr val="668866"/>
                </a:solidFill>
              </a:defRPr>
            </a:pPr>
            <a:r>
              <a:t>Benchmark: KAWS x Dior, Futura x Kenzo</a:t>
            </a:r>
          </a:p>
          <a:p>
            <a:pPr algn="ctr">
              <a:defRPr sz="1000">
                <a:solidFill>
                  <a:srgbClr val="668866"/>
                </a:solidFill>
              </a:defRPr>
            </a:pPr>
            <a:r>
              <a:t>Licensing: $10K-$500K + 5-15% royalties</a:t>
            </a:r>
          </a:p>
          <a:p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PMF Status: UNVALIDATED</a:t>
            </a:r>
          </a:p>
          <a:p>
            <a:pPr algn="ctr">
              <a:defRPr sz="1100">
                <a:solidFill>
                  <a:srgbClr val="888888"/>
                </a:solidFill>
              </a:defRPr>
            </a:pPr>
            <a:r>
              <a:t>(No collaborations completed)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Artist Economics: The Honest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TOP 10%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8 Artists</a:t>
            </a:r>
          </a:p>
          <a:p/>
          <a:p>
            <a:pPr algn="ctr">
              <a:defRPr sz="1200">
                <a:solidFill>
                  <a:srgbClr val="2D2D2D"/>
                </a:solidFill>
              </a:defRPr>
            </a:pPr>
            <a:r>
              <a:t>$210–245K gross (60–70%)</a:t>
            </a:r>
          </a:p>
          <a:p>
            <a:pPr algn="ctr">
              <a:defRPr sz="1600" b="1">
                <a:solidFill>
                  <a:srgbClr val="27AE60"/>
                </a:solidFill>
              </a:defRPr>
            </a:pPr>
            <a:r>
              <a:t>$13K–$15K net/artist</a:t>
            </a:r>
          </a:p>
          <a:p/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Revenue anchors.</a:t>
            </a:r>
            <a:br/>
            <a:r>
              <a:t>Fund the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A6B9F"/>
                </a:solidFill>
                <a:latin typeface="Calibri"/>
              </a:defRPr>
            </a:pPr>
            <a:r>
              <a:t>MIDDLE 30%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24 Artists</a:t>
            </a:r>
          </a:p>
          <a:p/>
          <a:p>
            <a:pPr algn="ctr">
              <a:defRPr sz="1200">
                <a:solidFill>
                  <a:srgbClr val="2D2D2D"/>
                </a:solidFill>
              </a:defRPr>
            </a:pPr>
            <a:r>
              <a:t>$70–88K gross (20–25%)</a:t>
            </a:r>
          </a:p>
          <a:p>
            <a:pPr algn="ctr">
              <a:defRPr sz="1600" b="1">
                <a:solidFill>
                  <a:srgbClr val="3A6B9F"/>
                </a:solidFill>
              </a:defRPr>
            </a:pPr>
            <a:r>
              <a:t>$1,450–$1,830 net/artist</a:t>
            </a:r>
          </a:p>
          <a:p/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Growth tier.</a:t>
            </a:r>
            <a:br/>
            <a:r>
              <a:t>Pipeline is working.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6F51"/>
                </a:solidFill>
                <a:latin typeface="Calibri"/>
              </a:defRPr>
            </a:pPr>
            <a:r>
              <a:t>EMERGING 60%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48 Artists</a:t>
            </a:r>
          </a:p>
          <a:p/>
          <a:p>
            <a:pPr algn="ctr">
              <a:defRPr sz="1200">
                <a:solidFill>
                  <a:srgbClr val="2D2D2D"/>
                </a:solidFill>
              </a:defRPr>
            </a:pPr>
            <a:r>
              <a:t>$18–70K gross (5–20%)</a:t>
            </a:r>
          </a:p>
          <a:p>
            <a:pPr algn="ctr">
              <a:defRPr sz="1600" b="1">
                <a:solidFill>
                  <a:srgbClr val="E76F51"/>
                </a:solidFill>
              </a:defRPr>
            </a:pPr>
            <a:r>
              <a:t>$185–$730 net/artist</a:t>
            </a:r>
          </a:p>
          <a:p/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Development tier.</a:t>
            </a:r>
            <a:br/>
            <a:r>
              <a:t>Building toward mid.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9"/>
              </a:spcAft>
              <a:defRPr sz="1400" b="1" i="0">
                <a:solidFill>
                  <a:srgbClr val="2D2D2D"/>
                </a:solidFill>
                <a:latin typeface="Calibri"/>
              </a:defRPr>
            </a:pPr>
            <a:r>
              <a:t>This is not a bug — this is how art markets work. Creative Growth shows the same pattern.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  <a:r>
              <a:t>The pipeline’s job: move artists UP the distribution. Workshops → visibility → sales → mid-tier → top.</a:t>
            </a:r>
          </a:p>
          <a:p>
            <a:pPr algn="l">
              <a:spcAft>
                <a:spcPts val="609"/>
              </a:spcAft>
              <a:defRPr sz="1400" b="0" i="1">
                <a:solidFill>
                  <a:srgbClr val="2D2D2D"/>
                </a:solidFill>
                <a:latin typeface="Calibri"/>
              </a:defRPr>
            </a:pPr>
            <a:r>
              <a:t>The metric that matters: are artists moving up the curve year over year?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Validated Comparables — Pareto Distribution; Creative Growth 50-year pattern]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Recommended Brand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5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Rossi Mission Project — The master brand and cultural platform</a:t>
            </a: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Rossi Gallery — Physical and online retail experience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Speaks to: Collectors, design-forward consumers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Benchmark: GraffitiStreet (online) + 33 1/3 Gallery (physical)</a:t>
            </a: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Rossi Studio — Artist development programs (workshops, residencies)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Speaks to: Grant funders, emerging artists, corporate partners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Benchmark: Creative Growth Art Center ($3.26M, 140 artists)</a:t>
            </a: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Rossi Editions — Limited-edition drops (prints, merch, collaborations)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Speaks to: Streetwear consumers, brand partners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Benchmark: DirtyPilot (curated prints) + KAWS DDT drops</a:t>
            </a: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475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Rossi Stories — Content and documentation engine</a:t>
            </a:r>
          </a:p>
          <a:p>
            <a:pPr algn="l">
              <a:spcAft>
                <a:spcPts val="475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  Speaks to: Cultural audience, drives discovery across all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Platform Models; BCG Assessment — Brand Architecture]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Product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Year 1 is about learning, not growth.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Year 1: Validate the Core (SF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A9D8F"/>
                </a:solidFill>
                <a:latin typeface="Calibri"/>
              </a:defRPr>
            </a:pPr>
            <a:r>
              <a:t>$745K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Year 1 Revenue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A6B9F"/>
                </a:solidFill>
                <a:latin typeface="Calibri"/>
              </a:defRPr>
            </a:pPr>
            <a:r>
              <a:t>1 Location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SF Flagship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7160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76F51"/>
                </a:solidFill>
                <a:latin typeface="Calibri"/>
              </a:defRPr>
            </a:pPr>
            <a:r>
              <a:t>80+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Artists on Roster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400" b="1" i="0">
                <a:solidFill>
                  <a:srgbClr val="2D2D2D"/>
                </a:solidFill>
                <a:latin typeface="Calibri"/>
              </a:defRPr>
            </a:pPr>
            <a:r>
              <a:t>Revenue Mix (Discovery-Informed):</a:t>
            </a:r>
          </a:p>
          <a:p>
            <a:pPr algn="l">
              <a:spcAft>
                <a:spcPts val="540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  <a:r>
              <a:t>  Retail (Gallery + Online): $405K (54%)  —  Core product, known to work</a:t>
            </a:r>
          </a:p>
          <a:p>
            <a:pPr algn="l">
              <a:spcAft>
                <a:spcPts val="540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  <a:r>
              <a:t>  Workshops + Events: $160K (21%)  —  Must validate with pilot workshops</a:t>
            </a:r>
          </a:p>
          <a:p>
            <a:pPr algn="l">
              <a:spcAft>
                <a:spcPts val="540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  <a:r>
              <a:t>  Collaborations: $70K (10%)  —  Build pipeline, close 2-3 deals</a:t>
            </a:r>
          </a:p>
          <a:p>
            <a:pPr algn="l">
              <a:spcAft>
                <a:spcPts val="540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  <a:r>
              <a:t>  Grants: $110K (15%)  —  Apply for $300K+ to net $110K (25–50% success rates)</a:t>
            </a:r>
          </a:p>
          <a:p>
            <a:pPr algn="l">
              <a:spcAft>
                <a:spcPts val="540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40"/>
              </a:spcAft>
              <a:defRPr sz="1400" b="1" i="0">
                <a:solidFill>
                  <a:srgbClr val="2D2D2D"/>
                </a:solidFill>
                <a:latin typeface="Calibri"/>
              </a:defRPr>
            </a:pPr>
            <a:r>
              <a:t>Grant reality check: Expected value from $215K in applications = $70K.</a:t>
            </a:r>
          </a:p>
          <a:p>
            <a:pPr algn="l">
              <a:spcAft>
                <a:spcPts val="540"/>
              </a:spcAft>
              <a:defRPr sz="1400" b="0" i="1">
                <a:solidFill>
                  <a:srgbClr val="2D2D2D"/>
                </a:solidFill>
                <a:latin typeface="Calibri"/>
              </a:defRPr>
            </a:pPr>
            <a:r>
              <a:t>Rossi must apply aggressively (SFAC, CAC, Zellerbach, Haas, SF Foundation) and hire grant writer.</a:t>
            </a:r>
          </a:p>
          <a:p>
            <a:pPr algn="l">
              <a:spcAft>
                <a:spcPts val="540"/>
              </a:spcAft>
              <a:defRPr sz="14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40"/>
              </a:spcAft>
              <a:defRPr sz="1400" b="1" i="1">
                <a:solidFill>
                  <a:srgbClr val="2D2D2D"/>
                </a:solidFill>
                <a:latin typeface="Calibri"/>
              </a:defRPr>
            </a:pPr>
            <a:r>
              <a:t>Year 1 is NOT about hitting $745K. It is about learning whether the three products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Validated Comparables — Grant Landscape; Underwriter Audit — Revenue Model]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Partner Expansion: Real Targets, Real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Year 2 Targets (Validate First)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Oakland: Gray Loft Gallery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489 25th St, Jingletown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Artist collective, First Friday walks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Portland: Alberta Street Gallery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1829 NE Alberta St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30 members, 70/30 split, cooperative model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Seattle: Side Rail Collective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5511 1/2 Airport Way S, Georgetown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No-commission model, membership fees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Year 3 Targets (If Evidence Supports)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LA: 01 Gallery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Melrose — first to exhibit graffiti artists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Mear One exhibited here pre-Banksy US debut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LA: 33 1/3 Gallery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Silverlake — hosted Banksy's first US show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NYC: One Art Space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Tribeca — curated graffiti shows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Cope2, Shepard Fairey exhibited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NYC: Bottleneck Gallery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Limited edition prints, gig posters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Marketplace Research — Physical Locations; BCG Assessment — Expansion Plan]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Year 1-3 Trajectory: Evidence-Based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Our Projections (Discovery-Based)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Year 1: $745K (baseline)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SF only. Validate all 3 products.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Year 2: $1.0-1.1M (+35-45%)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Add Oakland partner (Gray Loft).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Scale what works.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Year 3: $1.4-1.6M (+35-45%)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Add LA + 1 city. Expand deliberately.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Growth rate: exceptional but achievable.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Original Plan (Concerns)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Year 1: $780K</a:t>
            </a: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Year 2: $1.55M (+99%)</a:t>
            </a: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Year 3: $2.7M (+74%)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99% Y2 growth is venture-scale.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Assumes new locations generate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$300-400K immediately (no ramp).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Nonprofits grow at 20-25%/year.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Exceptional nonprofits: 35-45%.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The original plan exceeds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Underwriter Audit — Growth Analysis; BCG Assessment — Revenue Projections]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Product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We do not predict the future. We design experiments that surface problems early.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Top Product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High Impact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Brand Identity Confusion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Is Rossi a brand, nonprofit, or incubator?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Fix: Leadership alignment Week 1.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Month 17 Cash Crisis ($10K balance)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3 days of operating cash.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Fix: Staged funding. Tranche 2 at Month 6.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Workshop Pipeline Fails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10% conversion is unvalidated.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Fix: Pilot workshop Month 2. Redesign if &lt;8 attend.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Medium Impact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Personnel Costs Will Escalate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Creative Growth: 57% on staff. Rossi: 28%.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As you scale, expect 45–55%. Plan Year 2–3.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Art Sales Volatility (2x Swings)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CG art sales: $499K (2023) → $1.06M (2024).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Fix: Build 3-month reserve. Don’t assume steady.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Top Artists Leave for D2C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Cope2, Lady Pink keep 70–90% margin on own shops.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Fix: Prove 50/50 + development &gt; solo D2C.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Rent Burden ($120K/yr = 16% of revenue)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Structural disadvantage vs Oakland-based CG.</a:t>
            </a:r>
          </a:p>
          <a:p>
            <a:pPr algn="l">
              <a:spcAft>
                <a:spcPts val="850"/>
              </a:spcAft>
              <a:defRPr sz="1500" b="0" i="1">
                <a:solidFill>
                  <a:srgbClr val="2D2D2D"/>
                </a:solidFill>
                <a:latin typeface="Calibri"/>
              </a:defRPr>
            </a:pPr>
            <a:r>
              <a:t>  Fix: Verify lease. Negotiate or plan lower-cost expansion.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Validated Comparables — CG Form 990; Marketplace Research — D2C Margins]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90-Day Discovery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AAACC"/>
                </a:solidFill>
                <a:latin typeface="Calibri"/>
              </a:defRPr>
            </a:pPr>
            <a:r>
              <a:t>$10,000 to transform a business plan into validated evidence.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90-Day Discovery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A9D8F"/>
                </a:solidFill>
                <a:latin typeface="Calibri"/>
              </a:defRPr>
            </a:pPr>
            <a:r>
              <a:t>Phase 1: Foundation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Days 1-30</a:t>
            </a:r>
          </a:p>
          <a:p/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Pull POS data (2 days)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Hire photographer ($2K)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Optimize Shopify ($3.5K)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Launch first Artist Drop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Survey 20 roster artists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Benchmark: Cope2/Lady Pink D2C</a:t>
            </a:r>
          </a:p>
          <a:p/>
          <a:p>
            <a:pPr algn="ctr">
              <a:defRPr sz="1100" b="1">
                <a:solidFill>
                  <a:srgbClr val="2A9D8F"/>
                </a:solidFill>
                <a:latin typeface="Calibri"/>
              </a:defRPr>
            </a:pPr>
            <a:r>
              <a:t>Gate: Do we know our baseline?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A6B9F"/>
                </a:solidFill>
                <a:latin typeface="Calibri"/>
              </a:defRPr>
            </a:pPr>
            <a:r>
              <a:t>Phase 2: Validation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Days 31-60</a:t>
            </a:r>
          </a:p>
          <a:p/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Run pilot workshop ($500)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Complete 3 artist case studies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Execute 2nd &amp; 3rd Artist Drops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Pitch Alberta St + Gray Loft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Submit grant applications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Track online attribution data</a:t>
            </a:r>
          </a:p>
          <a:p/>
          <a:p>
            <a:pPr algn="ctr">
              <a:defRPr sz="1100" b="1">
                <a:solidFill>
                  <a:srgbClr val="3A6B9F"/>
                </a:solidFill>
                <a:latin typeface="Calibri"/>
              </a:defRPr>
            </a:pPr>
            <a:r>
              <a:t>Gate: Does the pipeline work?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6F51"/>
                </a:solidFill>
                <a:latin typeface="Calibri"/>
              </a:defRPr>
            </a:pPr>
            <a:r>
              <a:t>Phase 3: Package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Days 61-90</a:t>
            </a:r>
          </a:p>
          <a:p/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Update plan with real data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Write Section 8 (financials)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Reconcile all projections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Prepare funding presentation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Present to board + funders</a:t>
            </a:r>
          </a:p>
          <a:p>
            <a:pPr>
              <a:defRPr sz="1200">
                <a:solidFill>
                  <a:srgbClr val="2D2D2D"/>
                </a:solidFill>
                <a:latin typeface="Calibri"/>
              </a:defRPr>
            </a:pPr>
            <a:r>
              <a:t>  Competitive positioning deck</a:t>
            </a:r>
          </a:p>
          <a:p/>
          <a:p>
            <a:pPr algn="ctr">
              <a:defRPr sz="1100" b="1">
                <a:solidFill>
                  <a:srgbClr val="E76F51"/>
                </a:solidFill>
                <a:latin typeface="Calibri"/>
              </a:defRPr>
            </a:pPr>
            <a:r>
              <a:t>Gate: Does evidence support funding?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Total 90-Day Investment: $10,000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A9D8F"/>
                </a:solidFill>
                <a:latin typeface="Calibri"/>
              </a:defRPr>
            </a:pPr>
            <a:r>
              <a:t>$2,000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Brand Design</a:t>
            </a:r>
            <a:br/>
            <a:r>
              <a:t>(Freelance)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A6B9F"/>
                </a:solidFill>
                <a:latin typeface="Calibri"/>
              </a:defRPr>
            </a:pPr>
            <a:r>
              <a:t>$2,000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Product</a:t>
            </a:r>
            <a:br/>
            <a:r>
              <a:t>Photography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4630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76F51"/>
                </a:solidFill>
                <a:latin typeface="Calibri"/>
              </a:defRPr>
            </a:pPr>
            <a:r>
              <a:t>$3,500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Shopify + POD</a:t>
            </a:r>
            <a:br/>
            <a:r>
              <a:t>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$2,500</a:t>
            </a:r>
          </a:p>
          <a:p>
            <a:pPr algn="ctr">
              <a:defRPr sz="1200">
                <a:solidFill>
                  <a:srgbClr val="888888"/>
                </a:solidFill>
                <a:latin typeface="Calibri"/>
              </a:defRPr>
            </a:pPr>
            <a:r>
              <a:t>Workshop Pilot</a:t>
            </a:r>
            <a:br/>
            <a:r>
              <a:t>+ Misc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4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Expected Return within 90 Days:</a:t>
            </a:r>
          </a:p>
          <a:p>
            <a:pPr algn="l">
              <a:spcAft>
                <a:spcPts val="624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$15-25K in incremental digital revenue from artist drops and Shopify optimization</a:t>
            </a:r>
          </a:p>
          <a:p>
            <a:pPr algn="l">
              <a:spcAft>
                <a:spcPts val="624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3 documented artist case studies (evidence for funder presentation)</a:t>
            </a:r>
          </a:p>
          <a:p>
            <a:pPr algn="l">
              <a:spcAft>
                <a:spcPts val="624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Validated (or invalidated) workshop hypothesis</a:t>
            </a:r>
          </a:p>
          <a:p>
            <a:pPr algn="l">
              <a:spcAft>
                <a:spcPts val="624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Competitive positioning vs GraffitiStreet, DirtyPilot, Etsy, StockX</a:t>
            </a:r>
          </a:p>
          <a:p>
            <a:pPr algn="l">
              <a:spcAft>
                <a:spcPts val="624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Partner gallery conversations started (Alberta St, Gray Loft, Side Rail)</a:t>
            </a:r>
          </a:p>
          <a:p>
            <a:pPr algn="l">
              <a:spcAft>
                <a:spcPts val="624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624"/>
              </a:spcAft>
              <a:defRPr sz="1500" b="1" i="1">
                <a:solidFill>
                  <a:srgbClr val="2D2D2D"/>
                </a:solidFill>
                <a:latin typeface="Calibri"/>
              </a:defRPr>
            </a:pPr>
            <a:r>
              <a:t>This $10K transforms Rossi from a business plan into a validated, evidence-backed funding proposal.</a:t>
            </a:r>
          </a:p>
          <a:p>
            <a:pPr algn="l">
              <a:spcAft>
                <a:spcPts val="624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The evidence unlocks $185K in staged funding.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Underwriter Audit — Investment Framework; Marketplace Research — Competitor Data]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Success Metrics: Outcomes, Not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Customer Value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Artist income from Rossi: $2,500 avg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Top-tier artist income: $15K+ (top 8)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Workshop satisfaction: 4.5/5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Repeat collector rate: 20%+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Artist retention rate: 85%+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Competitive benchmark: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GraffitiStreet takes 40-50%. Etsy 6.5%.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Rossi at 50/50 must prove the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development value justifies the split.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Business Sustainability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Total revenue: $745K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Online revenue: $55K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Cash balance: &gt;$25K at all times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Revenue diversification: no stream &gt;50%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Grant pipeline: $200K applied, $110K received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850"/>
              </a:spcAft>
              <a:defRPr sz="1500" b="1" i="0">
                <a:solidFill>
                  <a:srgbClr val="2D2D2D"/>
                </a:solidFill>
                <a:latin typeface="Calibri"/>
              </a:defRPr>
            </a:pPr>
            <a:r>
              <a:t>90-Day Discovery Targets: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Workshop: 8+ attendees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First artist drop: $500+ in 72hrs</a:t>
            </a:r>
          </a:p>
          <a:p>
            <a:pPr algn="l">
              <a:spcAft>
                <a:spcPts val="8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  3 case studies + 1 partner 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8866"/>
                </a:solidFill>
                <a:latin typeface="Calibri"/>
              </a:defRPr>
            </a:pPr>
            <a:r>
              <a:t>[Evidence: BCG Assessment — Success Metrics; Marketplace Research — Commission Benchmarks]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2286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Recommendation to Rossi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1371600"/>
          </a:xfrm>
          <a:prstGeom prst="roundRect">
            <a:avLst/>
          </a:prstGeom>
          <a:solidFill>
            <a:srgbClr val="223A22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7AE60"/>
                </a:solidFill>
                <a:latin typeface="Calibri"/>
              </a:defRPr>
            </a:pPr>
            <a:r>
              <a:t>CONDITIONAL GO</a:t>
            </a:r>
          </a:p>
          <a:p>
            <a:pPr algn="ctr">
              <a:defRPr sz="1600">
                <a:solidFill>
                  <a:srgbClr val="AACCAA"/>
                </a:solidFill>
                <a:latin typeface="Calibri"/>
              </a:defRPr>
            </a:pPr>
            <a:r>
              <a:t>Invest 90 days and $10,000 in structured product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9"/>
              </a:spcAft>
              <a:defRPr sz="1400" b="1" i="0">
                <a:solidFill>
                  <a:srgbClr val="DDDDEE"/>
                </a:solidFill>
                <a:latin typeface="Calibri"/>
              </a:defRPr>
            </a:pPr>
            <a:r>
              <a:t>What Must Be True: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1. Pull actual POS data within 2 weeks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2. Run 1 pilot workshop within 6 weeks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3. Document 3 real artist case studies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4. Launch functioning e-commerce with monthly drops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5. Resolve identity: cultural platform, not "nonprofit + brand + incubator"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6. Moderate growth to 35-45% annually (nonprofit benchmark)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7. Restructure partner economics before expansion</a:t>
            </a:r>
          </a:p>
          <a:p>
            <a:pPr algn="l">
              <a:spcAft>
                <a:spcPts val="609"/>
              </a:spcAft>
              <a:defRPr sz="1400" b="0" i="0">
                <a:solidFill>
                  <a:srgbClr val="DDDDEE"/>
                </a:solidFill>
                <a:latin typeface="Calibri"/>
              </a:defRPr>
            </a:pPr>
            <a:r>
              <a:t>  8. Benchmark against GraffitiStreet, DirtyPilot, Alberta St, Side 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8866"/>
                </a:solidFill>
                <a:latin typeface="Calibri"/>
              </a:defRPr>
            </a:pPr>
            <a:r>
              <a:t>Underwriter Score: 82/100  |  BCG Verdict: Conditional Go  |  Palette System: Validated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gap is not 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AAAACC"/>
                </a:solidFill>
                <a:latin typeface="Calibri"/>
              </a:defRPr>
            </a:pPr>
            <a:r>
              <a:t>Rossi has exceptional vision.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gap is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2A9D8F"/>
                </a:solidFill>
                <a:latin typeface="Calibri"/>
              </a:defRPr>
            </a:pPr>
            <a:r>
              <a:t>Close it in 90 days, and this becomes a funded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8866"/>
                </a:solidFill>
                <a:latin typeface="Calibri"/>
              </a:defRPr>
            </a:pPr>
            <a:r>
              <a:t>V2 — Validated with Palette System  |  Para Signal Monitor: 6/6 anomalies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88"/>
                </a:solidFill>
                <a:latin typeface="Calibri"/>
              </a:defRPr>
            </a:pPr>
            <a:r>
              <a:t>Product Management Practice  |  February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