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AB339D0-BB48-496C-B5F6-021F195706C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P1: Gain Attention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BC044C2-16C0-4021-8CA7-7FE6C56D2EE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P2: State the Learning Objective.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200076A-16D6-4675-9CD8-5DC6941689C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P1: Gain Attention.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76645F-A434-4021-9570-80445EA5D6F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P1: Gain Attention.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8D7273-29AB-44B5-BE78-498E3FC5014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P3: Present Information -- core framework.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70D2DB-23E6-48D3-ADAC-3CFACB0443B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P3: Present Information -- market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211B2C-9C3F-4909-B9AC-98BECEF8B1C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P3/P4: Present Information + Assess Performance.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476495-A50D-45F0-AF23-9F8EA73F931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P4: Assess Performance.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ECE9A5-464D-412B-88CA-796A4AE3EC9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P4: Assess Performance -- contrast.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AFD067-E2AB-4D6C-A26F-3B98298E25A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P5: Provide Feedback.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B4D803D-865D-463F-8B82-8DD72093CA4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P5: Provide Feedback -- anti-patterns.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46906E-5A14-4FFF-AC26-13A290E53D5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P5: Provide Feedback -- 5 actionable takeaways.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E4CA80-C717-4244-83AF-44BF693A164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Gagne P4/P5: Live application.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09CCB0-5DDF-4EF7-B87B-A1C73B75801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9CFA91-6137-485D-A294-397D15A490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D44F07-B989-4047-BC03-547901F804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3ED9F5-E3F0-4976-90A0-F799D2A104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3CCB85-286D-4B9C-9C66-A589477E79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BF5BAF-735C-4ECB-8326-5D27D611CC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70CF9D-75AA-42DB-9468-7A1D558938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839419-F728-4053-8EB9-C3F35E0B19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E951FC-C177-4271-B30B-F585D56FDB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8F5E92-41FF-4CEA-ABF0-3D156B9AFC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19D059-69E2-4A95-9918-A7ACE22674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0455F5-02E0-48E1-8ECF-CD4063C5DD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2"/>
          <p:cNvSpPr/>
          <p:nvPr/>
        </p:nvSpPr>
        <p:spPr>
          <a:xfrm>
            <a:off x="457200" y="10972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AI Use Case &amp; Metrics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457200" y="21031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Problem Framing  |  Success Metrics  |  MVP Scope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457200" y="28346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Instructor: Mical Neill  |  Interview Prep / Live Class  |  Feb 2026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Instructor Introduction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457200" y="9144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Mical Neill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457200" y="1463040"/>
            <a:ext cx="822924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7 years in AWS Knowledge Architecture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Currently building multi-agent systems for product strategy and research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Background: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Designed knowledge systems at scale (AWS)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Built and shipped agentic AI applications in production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Mapped 127 AI companies across 12 use cases for this class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Teaching Philosophy: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Learn patterns, not memorized answers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Prepare for unseen problems with transferable frameworks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1" descr="backround.png"/>
          <p:cNvPicPr/>
          <p:nvPr/>
        </p:nvPicPr>
        <p:blipFill>
          <a:blip r:embed="rId1"/>
          <a:stretch/>
        </p:blipFill>
        <p:spPr>
          <a:xfrm>
            <a:off x="-45684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Today's Agenda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548640" y="1005840"/>
            <a:ext cx="8046360" cy="34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3 modules, one framework you can use in any AI interview: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1.  Problem Framing and AI Fit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How to determine if a problem is right for AI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The 4-Question Method + market validation with real data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2.  Success Metrics and Evaluation Readiness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Time-phased metrics (0-3 mo, 3-6 mo, 6+ mo)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Two live interview scenarios: mature vs. emerging market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3.  MVP Scope and Prioritization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Scoping principles and the 80/20 rule for AI MVPs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Common mistakes and how to avoid them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2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Problem Framing and AI Fit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457200" y="23774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How to determine if a problem is right for AI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The Interview Trap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548640" y="1005840"/>
            <a:ext cx="8046360" cy="347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Common interview questions: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"How would you evaluate if [problem] is a good fit for AI?"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"A customer wants to build [AI solution]. How do you assess viability?"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"What metrics would you use to determine success?"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The Trap: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Jumping to solutions without validating the problem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"We'll use GPT-4 with RAG and fine-tune on their data..."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What Interviewers Actually Want: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Structured thinking -- a repeatable framework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Risk awareness -- not just optimism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Metrics-first approach -- define success before building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The 4-Question Method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548640" y="1005840"/>
            <a:ext cx="5486040" cy="35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Run every AI use case through 4 questions: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1.  Is there a pattern?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Can this be solved by recognizing patterns in data?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2.  Is there data?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Enough quality data to train, fine-tune, or retrieve from?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3.  Is it repetitive or high-volume?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Does this happen often enough to justify AI investment?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4.  Can you measure success?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Clear metrics to know if AI is working?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All 4 must be YES or CHECKABLE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6217920" y="640080"/>
            <a:ext cx="2468520" cy="365400"/>
          </a:xfrm>
          <a:prstGeom prst="roundRect">
            <a:avLst>
              <a:gd name="adj" fmla="val 16667"/>
            </a:avLst>
          </a:prstGeom>
          <a:solidFill>
            <a:srgbClr val="389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4-QUESTION METHOD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6217920" y="114300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1. Pattern?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6"/>
          <p:cNvSpPr/>
          <p:nvPr/>
        </p:nvSpPr>
        <p:spPr>
          <a:xfrm>
            <a:off x="6217920" y="166428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2. Data?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0" name="Connector 7"/>
          <p:cNvCxnSpPr/>
          <p:nvPr/>
        </p:nvCxnSpPr>
        <p:spPr>
          <a:xfrm>
            <a:off x="7452360" y="1554480"/>
            <a:ext cx="360" cy="10980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91" name="Rounded Rectangle 8"/>
          <p:cNvSpPr/>
          <p:nvPr/>
        </p:nvSpPr>
        <p:spPr>
          <a:xfrm>
            <a:off x="6217920" y="218556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3. Volume?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Connector 9"/>
          <p:cNvCxnSpPr/>
          <p:nvPr/>
        </p:nvCxnSpPr>
        <p:spPr>
          <a:xfrm>
            <a:off x="7452360" y="2075400"/>
            <a:ext cx="360" cy="11016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93" name="Rounded Rectangle 10"/>
          <p:cNvSpPr/>
          <p:nvPr/>
        </p:nvSpPr>
        <p:spPr>
          <a:xfrm>
            <a:off x="6217920" y="270648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4. Measurable?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4" name="Connector 11"/>
          <p:cNvCxnSpPr/>
          <p:nvPr/>
        </p:nvCxnSpPr>
        <p:spPr>
          <a:xfrm>
            <a:off x="7452360" y="2596680"/>
            <a:ext cx="360" cy="11016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cxnSp>
        <p:nvCxnSpPr>
          <p:cNvPr id="95" name="Connector 12"/>
          <p:cNvCxnSpPr/>
          <p:nvPr/>
        </p:nvCxnSpPr>
        <p:spPr>
          <a:xfrm>
            <a:off x="7452360" y="3117960"/>
            <a:ext cx="360" cy="11016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96" name="Rounded Rectangle 13"/>
          <p:cNvSpPr/>
          <p:nvPr/>
        </p:nvSpPr>
        <p:spPr>
          <a:xfrm>
            <a:off x="6217920" y="322776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ALL YES -&gt; PROCEED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nector 14"/>
          <p:cNvCxnSpPr/>
          <p:nvPr/>
        </p:nvCxnSpPr>
        <p:spPr>
          <a:xfrm>
            <a:off x="7452360" y="3639240"/>
            <a:ext cx="360" cy="11016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98" name="Rounded Rectangle 15"/>
          <p:cNvSpPr/>
          <p:nvPr/>
        </p:nvSpPr>
        <p:spPr>
          <a:xfrm>
            <a:off x="6217920" y="3749040"/>
            <a:ext cx="2468520" cy="411120"/>
          </a:xfrm>
          <a:prstGeom prst="roundRect">
            <a:avLst>
              <a:gd name="adj" fmla="val 16667"/>
            </a:avLst>
          </a:prstGeom>
          <a:solidFill>
            <a:srgbClr val="e76f5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ANY NO -&gt; DIG DEEPER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Pattern Recognition  +  Data Availability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548640" y="1005840"/>
            <a:ext cx="8046360" cy="375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 AI Fit -- Pattern: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Customer support tickets -- common questions recur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Code completion -- syntax and context are predictable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Document extraction -- invoices have structure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Poor AI Fit -- No Pattern: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One-off strategic decisions, creative brand positioning, novel research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 AI Fit -- Data Available: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Historical conversations (thousands of examples)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Public code repos (billions of lines)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Existing documents (structured/semi-structured)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Poor AI Fit -- No Data: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Brand new process, highly sensitive data, rare events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Key insight: AI is pattern recognition, not magic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Volume &amp; Repetition  +  Measurability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411840" y="685800"/>
            <a:ext cx="8046360" cy="39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 AI Fit -- High Volume: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10,000+ support tickets/month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Developers writing code daily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1,000+ documents processed per week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Poor AI Fit -- Low Volume: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Quarterly strategic planning (4x/year)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Annual compliance audits (1x/year)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 Metrics -- Measurable: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Support: resolution time, CSAT, ticket deflection rate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Code: acceptance rate, time saved, bugs introduced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Documents: extraction accuracy, processing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Poor Metrics -- Vague: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"Make our brand more innovative" or "improve morale"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Key insight: ROI requires volume. Define metrics before building.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Market Validation: Funded Companies = Signal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548640" y="1005840"/>
            <a:ext cx="5486040" cy="35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127 companies mapped across 12 AI use cases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HIGH -- 20+ companies, $500M+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Sales &amp; GTM: 25+ co's, $2B+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Customer Support: 20+ co's, $700M+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Dev Productivity: 30+ co's, $500M+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Risk: Differentiation in crowded market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39c12"/>
                </a:solidFill>
                <a:effectLst/>
                <a:uFillTx/>
                <a:latin typeface="Fira Sans"/>
              </a:rPr>
              <a:t>MEDIUM -- 5-20 companies, $100M-$500M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Agentic Orchestration: 15 co's, $150M+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AI Governance: 8-10 co's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Risk: Category still being defined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LOW / White Space -- 0-5 companies, &lt;$50M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AI Decision Logs, Internal Demo Gen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Risk: Market may not exist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6217920" y="73152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HIGH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20+ co's, $500M+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5"/>
          <p:cNvSpPr/>
          <p:nvPr/>
        </p:nvSpPr>
        <p:spPr>
          <a:xfrm>
            <a:off x="6217920" y="150876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MEDIUM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5-20 co's, $100-500M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ounded Rectangle 6"/>
          <p:cNvSpPr/>
          <p:nvPr/>
        </p:nvSpPr>
        <p:spPr>
          <a:xfrm>
            <a:off x="6217920" y="2286000"/>
            <a:ext cx="2468520" cy="68544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LOW / GAP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0-5 co's, &lt;$50M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6217920" y="31089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Market Validation Signal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Real Data: 127 Companies Across 12 Use Cases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48640" y="1143000"/>
            <a:ext cx="8046360" cy="353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Highest Funded Use Cases: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Sales &amp; GTM: Gong $584M, Clari $576M, Outreach $489M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Customer Support: Intercom $240M, Ada $190M, Kustomer $174M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Document Processing: Hyperscience $218M, Instabase $132M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RAG Infrastructure: Pinecone $138M, Weaviate $67M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Knowledge Mgmt: Glean $360M, Notion AI $343M, Perplexity $100M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Emerging / Agent-Native: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Orchestration: LangChain $35M, Fixie $17M, Dust $16M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Workflow Automation: Zapier $1.3B, Make $38M, Bardeen $18M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AI Evaluation: Patronus $17M, Braintrust $5M, Humanloop $5M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New Unicorns (2023-2025):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Sierra: $525M, $10B valuation in 2 years (customer support)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Cursor: $900M Series C, ~$10B valuation (code generation)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Harvey: $5B valuation (legal AI)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2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Success Metrics and Evaluation Readiness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457200" y="2743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Time-phased metrics and real interview scenarios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Time-Phased Success Metrics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548640" y="1005840"/>
            <a:ext cx="5486040" cy="359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Metrics should be concrete and time-phased: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Early (0-3 months):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Accuracy on core task (e.g., 85% on top 10 question types)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User adoption rate, error rate baseline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Medium (3-6 months):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Business impact (e.g., 30% ticket deflection, 50% time saved)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Active users at scale, cost per interaction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Long-term (6+ months):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Sustained quality (CSAT maintained), cost reduction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Expansion to adjacent use cases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Evaluation readiness: can you measure TODAY?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If no baseline data exists, that's your first milestone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ounded Rectangle 4"/>
          <p:cNvSpPr/>
          <p:nvPr/>
        </p:nvSpPr>
        <p:spPr>
          <a:xfrm>
            <a:off x="6217920" y="73152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0-3 MONTHS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Accuracy, adoption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5"/>
          <p:cNvSpPr/>
          <p:nvPr/>
        </p:nvSpPr>
        <p:spPr>
          <a:xfrm>
            <a:off x="6217920" y="130752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3896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3-6 MONTHS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Business impact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3" name="Connector 6"/>
          <p:cNvCxnSpPr/>
          <p:nvPr/>
        </p:nvCxnSpPr>
        <p:spPr>
          <a:xfrm>
            <a:off x="7452360" y="1234440"/>
            <a:ext cx="360" cy="7344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  <p:sp>
        <p:nvSpPr>
          <p:cNvPr id="124" name="Rounded Rectangle 7"/>
          <p:cNvSpPr/>
          <p:nvPr/>
        </p:nvSpPr>
        <p:spPr>
          <a:xfrm>
            <a:off x="6217920" y="1883520"/>
            <a:ext cx="2468520" cy="502560"/>
          </a:xfrm>
          <a:prstGeom prst="roundRect">
            <a:avLst>
              <a:gd name="adj" fmla="val 16667"/>
            </a:avLst>
          </a:prstGeom>
          <a:solidFill>
            <a:srgbClr val="2ecc7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6+ MONTHS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ROI, expansion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Connector 8"/>
          <p:cNvCxnSpPr/>
          <p:nvPr/>
        </p:nvCxnSpPr>
        <p:spPr>
          <a:xfrm>
            <a:off x="7452360" y="1810440"/>
            <a:ext cx="360" cy="73440"/>
          </a:xfrm>
          <a:prstGeom prst="straightConnector1">
            <a:avLst/>
          </a:prstGeom>
          <a:ln>
            <a:solidFill>
              <a:srgbClr val="bbbbbb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Scenario 1: Mature Market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548640" y="1005840"/>
            <a:ext cx="8046360" cy="35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Interview question: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"A customer wants to build an AI-powered customer support chatbot."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"How would you evaluate if this is a good idea?"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4-Question Method: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Pattern? YES -- common questions, resolution paths recur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Data? CHECK -- need 6+ months of historical tickets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Repetitive? CHECK -- need 1,000+ tickets/month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Measurable? YES -- deflection rate, CSAT, resolution 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Market Validation: 20+ companies, $700M+ -- HIGH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Intercom $240M, Ada $190M, Kustomer $174M, Forethought $92M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Challenge is differentiation, not viability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Metrics: 85% accuracy (0-3mo) -&gt; 30% deflection (3-6mo) -&gt; CSAT maintained (6+mo)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Scenario 2: Emerging Category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"/>
          <p:cNvSpPr/>
          <p:nvPr/>
        </p:nvSpPr>
        <p:spPr>
          <a:xfrm>
            <a:off x="457200" y="784080"/>
            <a:ext cx="8046360" cy="37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Interview question: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"A customer wants to build an agentic workflow automation platform."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"How would you evaluate this?"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4-Question Method: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Pattern? MAYBE -- workflows have patterns, but complex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Data? PARTIAL -- individual tools yes, cross-tool less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Repetitive? YES -- if targeting common workflows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Measurable? YES -- time saved, error rate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f39c12"/>
                </a:solidFill>
                <a:effectLst/>
                <a:uFillTx/>
                <a:latin typeface="Fira Sans"/>
              </a:rPr>
              <a:t>Market Validation: 15 co's, $150M+ -- EMERGING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LangChain $35M, Fixie $17M, Dust $16M -- all founded 2022-23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Metrics: 70% completion (0-3mo) -&gt; 50% time saved (3-6mo)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Key difference: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Mature market = differentiation 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39c12"/>
                </a:solidFill>
                <a:effectLst/>
                <a:uFillTx/>
                <a:latin typeface="Fira Sans"/>
              </a:rPr>
              <a:t>Emerging market = category + reliability 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2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MVP Scope and Prioritization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457200" y="23774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Scoping discipline separates good answers from great ones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MVP Scoping Principles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548640" y="1005840"/>
            <a:ext cx="8046360" cy="35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The 80/20 rule for AI MVPs: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Solve the top 10 use cases, not all of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Scoping rules: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ONE workflow, not "automate everything"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3-5 integrations, not the entire tool ecosystem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Human-in-the-loop for edge cases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Fira Sans"/>
              </a:rPr>
              <a:t>Prioritization criteria: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Volume -- how often does this task happen?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Data readiness -- is training/retrieval data available?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Measurability -- can we prove success in 90 days?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Risk tolerance -- what happens when AI is wrong?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Red flag: if you can't scope the MVP to one sentence, it's too broad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Common Mistakes in AI Use Case Interviews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"/>
          <p:cNvSpPr/>
          <p:nvPr/>
        </p:nvSpPr>
        <p:spPr>
          <a:xfrm>
            <a:off x="548640" y="1005840"/>
            <a:ext cx="8046360" cy="33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1. Jumping to solutions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"We'll use GPT-4 with RAG..."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"Let me validate AI suitability first..."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2. Ignoring market validation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"Great idea, let's build!"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"I see 20+ companies with $700M funding -- differentiation is key"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3. Vague metrics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"Measure user satisfaction"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"85% accuracy on top 10, 30% deflection rate by month 6"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4. Ignoring risks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"AI can solve this easily!"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"Risk is differentiation in a crowded market"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e74c3c"/>
                </a:solidFill>
                <a:effectLst/>
                <a:uFillTx/>
                <a:latin typeface="Fira Sans"/>
              </a:rPr>
              <a:t>5. Over-scoping the MVP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BAD: "Automate all support"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2ecc71"/>
                </a:solidFill>
                <a:effectLst/>
                <a:uFillTx/>
                <a:latin typeface="Fira Sans"/>
              </a:rPr>
              <a:t>GOOD: "MVP: Top 10 question types"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Key Takeaways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548640" y="1005840"/>
            <a:ext cx="8046360" cy="331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1.  Use the 4-Question Method every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Pattern -&gt; Data -&gt; Volume -&gt; Measurable -- all must pass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2.  Market validation = funded companies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High validation = differentiation risk. Low = existence risk.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3.  Time-phase your metrics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0-3 mo: accuracy. 3-6 mo: impact. 6+ mo: sustained ROI.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4.  Scope aggressively for MVP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One workflow. Measurable in 90 days. Human-in-the-loop.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5.  Name risks explicitly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Mature market != emerging market -- different risks, different recs.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What interviewers look for: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PM: customer empathy + prioritization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TPM: risk identification + execution planning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EM: technical depth + reliability awareness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2"/>
          <p:cNvSpPr/>
          <p:nvPr/>
        </p:nvSpPr>
        <p:spPr>
          <a:xfrm>
            <a:off x="457200" y="2286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Live Demo: AI Use Case Evaluator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457200" y="914400"/>
            <a:ext cx="8229240" cy="358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You just learned the framework. Now watch an agent apply it.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One prompt. Any use case. Full evaluation in ~30 seconds.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What it produces: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4-Question Method analysis (pattern, data, volume, measurable)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Market validation signal (company count + funding tier)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MVP scope (one sentence + constraints)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Time-phased metrics (0-3mo, 3-6mo, 6+mo)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Risk assessment + recommendation (go / conditional / no-go)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1" u="none" strike="noStrike">
                <a:solidFill>
                  <a:srgbClr val="e76f51"/>
                </a:solidFill>
                <a:effectLst/>
                <a:uFillTx/>
                <a:latin typeface="Fira Sans"/>
              </a:rPr>
              <a:t>Audience: suggest a use case.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"AI-powered resume screening for recruiters"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"AI that detects fraudulent insurance claims"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Fira Sans"/>
              </a:rPr>
              <a:t>  "AI copilot for financial advisors"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" descr="backroun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2"/>
          <p:cNvSpPr/>
          <p:nvPr/>
        </p:nvSpPr>
        <p:spPr>
          <a:xfrm>
            <a:off x="457200" y="13716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00b0f0"/>
                </a:solidFill>
                <a:effectLst/>
                <a:uFillTx/>
                <a:latin typeface="Fira Sans"/>
              </a:rPr>
              <a:t>Questions?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457200" y="27432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bbbbbb"/>
                </a:solidFill>
                <a:effectLst/>
                <a:uFillTx/>
                <a:latin typeface="Fira Sans"/>
              </a:rPr>
              <a:t>Framework works for any AI use case -- practice with real scenarios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457200" y="36576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aaaaaa"/>
                </a:solidFill>
                <a:effectLst/>
                <a:uFillTx/>
                <a:latin typeface="Fira Sans"/>
              </a:rPr>
              <a:t>Company-RIU Mapping Library: 127 AI companies across 12 use cases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LibreOffice/25.8.4.2$Linux_X86_64 LibreOffice_project/0366609b1de41a39e1896ae41e33c673f2a73802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2026-02-10T18:09:43Z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