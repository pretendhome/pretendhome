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5"/>
    <p:sldMasterId id="2147483694" r:id="rId6"/>
  </p:sldMasterIdLst>
  <p:notesMasterIdLst>
    <p:notesMasterId r:id="rId7"/>
  </p:notes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1"/>
    <p:sldId id="264" r:id="rId10"/>
    <p:sldId id="265" r:id="rId9"/>
    <p:sldId id="266" r:id="rId8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</p:sldIdLst>
  <p:sldSz cy="5143500" cx="9144000"/>
  <p:notesSz cx="6858000" cy="9144000"/>
  <p:embeddedFontLst>
    <p:embeddedFont>
      <p:font typeface="Fira Sans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">
          <p15:clr>
            <a:srgbClr val="A4A3A4"/>
          </p15:clr>
        </p15:guide>
        <p15:guide id="3" pos="4608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B18950-E327-48B5-A4EB-C066B41EEC54}">
  <a:tblStyle styleId="{0DB18950-E327-48B5-A4EB-C066B41EEC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"/>
        <p:guide pos="4608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font" Target="fonts/FiraSans-regular.fntdata"/><Relationship Id="rId20" Type="http://schemas.openxmlformats.org/officeDocument/2006/relationships/font" Target="fonts/FiraSans-bold.fntdata"/><Relationship Id="rId21" Type="http://schemas.openxmlformats.org/officeDocument/2006/relationships/font" Target="fonts/FiraSans-italic.fntdata"/><Relationship Id="rId22" Type="http://schemas.openxmlformats.org/officeDocument/2006/relationships/font" Target="fonts/FiraSans-boldItalic.fntdata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4">
  <p:cSld name="TITLE_AND_BODY_4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63933" y="47036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White)" typ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(Centered)" type="secHead">
  <p:cSld name="SECTION_HEADER">
    <p:bg>
      <p:bgPr>
        <a:solidFill>
          <a:srgbClr val="32415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1592700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Fira Sans"/>
              <a:buNone/>
              <a:defRPr b="1" sz="6000"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" name="Google Shape;21;p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324158"/>
        </a:solid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ctrTitle"/>
          </p:nvPr>
        </p:nvSpPr>
        <p:spPr>
          <a:xfrm>
            <a:off x="706650" y="411425"/>
            <a:ext cx="7730700" cy="1287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"/>
              <a:buNone/>
              <a:defRPr b="1" sz="60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pic>
        <p:nvPicPr>
          <p:cNvPr id="25" name="Google Shape;25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00600" y="1858950"/>
            <a:ext cx="6542801" cy="14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6"/>
          <p:cNvSpPr txBox="1"/>
          <p:nvPr/>
        </p:nvSpPr>
        <p:spPr>
          <a:xfrm>
            <a:off x="1512950" y="3755800"/>
            <a:ext cx="6330300" cy="9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SECTION_HEADER_3">
    <p:bg>
      <p:bgPr>
        <a:solidFill>
          <a:srgbClr val="324158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/>
        </p:nvSpPr>
        <p:spPr>
          <a:xfrm>
            <a:off x="1132350" y="2061225"/>
            <a:ext cx="6879300" cy="9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" sz="6000" u="none" cap="none" strike="noStrike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rPr>
              <a:t>Thank You!</a:t>
            </a:r>
            <a:endParaRPr b="1" i="0" sz="6000" u="none" cap="none" strike="noStrik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30" name="Google Shape;30;p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(White/Light Blue)(Centered)">
  <p:cSld name="SECTION_HEADER_2">
    <p:bg>
      <p:bgPr>
        <a:solidFill>
          <a:schemeClr val="lt1"/>
        </a:solid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>
            <p:ph type="title"/>
          </p:nvPr>
        </p:nvSpPr>
        <p:spPr>
          <a:xfrm>
            <a:off x="311700" y="1592700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6000"/>
              <a:buFont typeface="Fira Sans"/>
              <a:buNone/>
              <a:defRPr b="1" sz="60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&amp; Minimal Text (Centered)">
  <p:cSld name="SECTION_HEADER_2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311700" y="1592700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6000"/>
              <a:buFont typeface="Fira Sans"/>
              <a:buNone/>
              <a:defRPr b="1" sz="60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6" name="Google Shape;36;p9"/>
          <p:cNvSpPr txBox="1"/>
          <p:nvPr>
            <p:ph idx="1" type="subTitle"/>
          </p:nvPr>
        </p:nvSpPr>
        <p:spPr>
          <a:xfrm>
            <a:off x="2096875" y="3649625"/>
            <a:ext cx="4923600" cy="4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/Title (Top)">
  <p:cSld name="SECTION_HEADER_1">
    <p:bg>
      <p:bgPr>
        <a:solidFill>
          <a:srgbClr val="324158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/>
          <p:nvPr>
            <p:ph type="title"/>
          </p:nvPr>
        </p:nvSpPr>
        <p:spPr>
          <a:xfrm>
            <a:off x="311700" y="398275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Fira Sans"/>
              <a:buNone/>
              <a:defRPr b="1" sz="6000"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1 column) (Black text)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/>
          <p:nvPr/>
        </p:nvSpPr>
        <p:spPr>
          <a:xfrm>
            <a:off x="0" y="0"/>
            <a:ext cx="2309100" cy="5143500"/>
          </a:xfrm>
          <a:prstGeom prst="rect">
            <a:avLst/>
          </a:prstGeom>
          <a:solidFill>
            <a:srgbClr val="3896D2"/>
          </a:solidFill>
          <a:ln>
            <a:noFill/>
          </a:ln>
          <a:effectLst>
            <a:outerShdw blurRad="38100" rotWithShape="0" dir="5400000" dist="25400">
              <a:srgbClr val="000000">
                <a:alpha val="44313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3" name="Google Shape;43;p11"/>
          <p:cNvSpPr txBox="1"/>
          <p:nvPr>
            <p:ph idx="1" type="subTitle"/>
          </p:nvPr>
        </p:nvSpPr>
        <p:spPr>
          <a:xfrm>
            <a:off x="238800" y="477750"/>
            <a:ext cx="18315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28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2471825" y="477750"/>
            <a:ext cx="5700000" cy="43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Blank (1 column) ">
  <p:cSld name="TITLE_AND_BODY_2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/>
          <p:nvPr/>
        </p:nvSpPr>
        <p:spPr>
          <a:xfrm>
            <a:off x="0" y="0"/>
            <a:ext cx="2309100" cy="5143500"/>
          </a:xfrm>
          <a:prstGeom prst="rect">
            <a:avLst/>
          </a:prstGeom>
          <a:solidFill>
            <a:srgbClr val="3896D2"/>
          </a:solidFill>
          <a:ln>
            <a:noFill/>
          </a:ln>
          <a:effectLst>
            <a:outerShdw blurRad="38100" rotWithShape="0" dir="5400000" dist="25400">
              <a:srgbClr val="000000">
                <a:alpha val="44313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48" name="Google Shape;48;p12"/>
          <p:cNvSpPr txBox="1"/>
          <p:nvPr>
            <p:ph idx="1" type="subTitle"/>
          </p:nvPr>
        </p:nvSpPr>
        <p:spPr>
          <a:xfrm>
            <a:off x="238800" y="477750"/>
            <a:ext cx="18315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28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1 column) (Light Blue text)">
  <p:cSld name="TITLE_AND_BODY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0" y="0"/>
            <a:ext cx="2309100" cy="5143500"/>
          </a:xfrm>
          <a:prstGeom prst="rect">
            <a:avLst/>
          </a:prstGeom>
          <a:solidFill>
            <a:srgbClr val="3896D2"/>
          </a:solidFill>
          <a:ln>
            <a:noFill/>
          </a:ln>
          <a:effectLst>
            <a:outerShdw blurRad="38100" rotWithShape="0" dir="5400000" dist="25400">
              <a:srgbClr val="000000">
                <a:alpha val="44313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52" name="Google Shape;52;p13"/>
          <p:cNvSpPr txBox="1"/>
          <p:nvPr>
            <p:ph idx="1" type="subTitle"/>
          </p:nvPr>
        </p:nvSpPr>
        <p:spPr>
          <a:xfrm>
            <a:off x="238800" y="477750"/>
            <a:ext cx="18315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28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2471825" y="477750"/>
            <a:ext cx="5700000" cy="43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(Light blue/White)" type="twoColTx">
  <p:cSld name="TITLE_AND_TWO_COLUMNS">
    <p:bg>
      <p:bgPr>
        <a:solidFill>
          <a:schemeClr val="lt1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3896D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type="title"/>
          </p:nvPr>
        </p:nvSpPr>
        <p:spPr>
          <a:xfrm>
            <a:off x="31170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Fira Sans"/>
              <a:buNone/>
              <a:defRPr sz="32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60" name="Google Shape;60;p14"/>
          <p:cNvSpPr txBox="1"/>
          <p:nvPr>
            <p:ph idx="3" type="title"/>
          </p:nvPr>
        </p:nvSpPr>
        <p:spPr>
          <a:xfrm>
            <a:off x="487095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(Light blue/White) (Sides Flipped)">
  <p:cSld name="TITLE_AND_TWO_COLUMNS_2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/>
          <p:nvPr/>
        </p:nvSpPr>
        <p:spPr>
          <a:xfrm>
            <a:off x="4584900" y="0"/>
            <a:ext cx="4572000" cy="5143500"/>
          </a:xfrm>
          <a:prstGeom prst="rect">
            <a:avLst/>
          </a:prstGeom>
          <a:solidFill>
            <a:srgbClr val="3896D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5"/>
          <p:cNvSpPr txBox="1"/>
          <p:nvPr>
            <p:ph type="title"/>
          </p:nvPr>
        </p:nvSpPr>
        <p:spPr>
          <a:xfrm>
            <a:off x="31170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66" name="Google Shape;66;p1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●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○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■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●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○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■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●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○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2600"/>
              <a:buFont typeface="Fira Sans"/>
              <a:buChar char="■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67" name="Google Shape;67;p15"/>
          <p:cNvSpPr txBox="1"/>
          <p:nvPr>
            <p:ph idx="3" type="title"/>
          </p:nvPr>
        </p:nvSpPr>
        <p:spPr>
          <a:xfrm>
            <a:off x="487095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Fira Sans"/>
              <a:buNone/>
              <a:defRPr sz="32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(Light Blue/White) (Black Text)">
  <p:cSld name="TITLE_AND_TWO_COLUMNS_1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3896D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Fira Sans"/>
              <a:buNone/>
              <a:defRPr sz="32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●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○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■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●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○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■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●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○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2600"/>
              <a:buFont typeface="Fira Sans"/>
              <a:buChar char="■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73" name="Google Shape;73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●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○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■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●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○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■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●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○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600"/>
              <a:buFont typeface="Fira Sans"/>
              <a:buChar char="■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74" name="Google Shape;74;p16"/>
          <p:cNvSpPr txBox="1"/>
          <p:nvPr>
            <p:ph idx="3" type="title"/>
          </p:nvPr>
        </p:nvSpPr>
        <p:spPr>
          <a:xfrm>
            <a:off x="487095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Fira Sans"/>
              <a:buNone/>
              <a:defRPr sz="3200"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Arrow (Light Blue Text)">
  <p:cSld name="TITLE_AND_TWO_COLUMNS_1_1"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23925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2" type="title"/>
          </p:nvPr>
        </p:nvSpPr>
        <p:spPr>
          <a:xfrm>
            <a:off x="564640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9" name="Google Shape;79;p17"/>
          <p:cNvSpPr/>
          <p:nvPr/>
        </p:nvSpPr>
        <p:spPr>
          <a:xfrm>
            <a:off x="3795750" y="2040900"/>
            <a:ext cx="1552500" cy="106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324158"/>
          </a:solidFill>
          <a:ln cap="flat" cmpd="sng" w="9525">
            <a:solidFill>
              <a:srgbClr val="3241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Arrow (Black Text)">
  <p:cSld name="TITLE_AND_TWO_COLUMNS_1_1_1">
    <p:bg>
      <p:bgPr>
        <a:solidFill>
          <a:schemeClr val="lt1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23925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2" type="title"/>
          </p:nvPr>
        </p:nvSpPr>
        <p:spPr>
          <a:xfrm>
            <a:off x="564640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9pPr>
          </a:lstStyle>
          <a:p/>
        </p:txBody>
      </p:sp>
      <p:sp>
        <p:nvSpPr>
          <p:cNvPr id="84" name="Google Shape;84;p18"/>
          <p:cNvSpPr/>
          <p:nvPr/>
        </p:nvSpPr>
        <p:spPr>
          <a:xfrm>
            <a:off x="3795750" y="2040900"/>
            <a:ext cx="1552500" cy="106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324158"/>
          </a:solidFill>
          <a:ln cap="flat" cmpd="sng" w="9525">
            <a:solidFill>
              <a:srgbClr val="3241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aded White)">
  <p:cSld name="BLANK_2">
    <p:bg>
      <p:bgPr>
        <a:solidFill>
          <a:srgbClr val="F0F3F6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Navy Blue)">
  <p:cSld name="BLANK_1">
    <p:bg>
      <p:bgPr>
        <a:solidFill>
          <a:srgbClr val="324158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Light Blue)">
  <p:cSld name="BLANK_1_1">
    <p:bg>
      <p:bgPr>
        <a:solidFill>
          <a:srgbClr val="3896D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Fira Sans"/>
              <a:buNone/>
              <a:defRPr sz="5200"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"/>
              <a:buNone/>
              <a:defRPr sz="2800">
                <a:latin typeface="Fira Sans"/>
                <a:ea typeface="Fira Sans"/>
                <a:cs typeface="Fira Sans"/>
                <a:sym typeface="Fira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8" name="Google Shape;98;p2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9" name="Google Shape;99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4">
  <p:cSld name="TITLE_AND_BODY_4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6" name="Google Shape;106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●"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Fira Sans"/>
              <a:buChar char="○"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Fira Sans"/>
              <a:buChar char="■"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07" name="Google Shape;107;p25"/>
          <p:cNvSpPr txBox="1"/>
          <p:nvPr>
            <p:ph idx="12" type="sldNum"/>
          </p:nvPr>
        </p:nvSpPr>
        <p:spPr>
          <a:xfrm>
            <a:off x="63933" y="47036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White)" type="blank">
  <p:cSld name="BLANK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(Centered)" type="secHead">
  <p:cSld name="SECTION_HEADER">
    <p:bg>
      <p:bgPr>
        <a:solidFill>
          <a:srgbClr val="324158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311700" y="1592700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Fira Sans"/>
              <a:buNone/>
              <a:defRPr b="1" sz="6000"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12" name="Google Shape;112;p2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8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5" name="Google Shape;115;p2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6" name="Google Shape;116;p2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7" name="Google Shape;117;p2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324158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/>
          <p:cNvSpPr txBox="1"/>
          <p:nvPr>
            <p:ph type="ctrTitle"/>
          </p:nvPr>
        </p:nvSpPr>
        <p:spPr>
          <a:xfrm>
            <a:off x="706650" y="411425"/>
            <a:ext cx="7730700" cy="1287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"/>
              <a:buNone/>
              <a:defRPr b="1" sz="60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pic>
        <p:nvPicPr>
          <p:cNvPr id="120" name="Google Shape;120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300600" y="1858950"/>
            <a:ext cx="6542801" cy="14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9"/>
          <p:cNvSpPr txBox="1"/>
          <p:nvPr/>
        </p:nvSpPr>
        <p:spPr>
          <a:xfrm>
            <a:off x="1512950" y="3755800"/>
            <a:ext cx="6330300" cy="9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SECTION_HEADER_3">
    <p:bg>
      <p:bgPr>
        <a:solidFill>
          <a:srgbClr val="324158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0"/>
          <p:cNvSpPr txBox="1"/>
          <p:nvPr/>
        </p:nvSpPr>
        <p:spPr>
          <a:xfrm>
            <a:off x="1132350" y="2061225"/>
            <a:ext cx="6879300" cy="9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" sz="6000" u="none" cap="none" strike="noStrike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rPr>
              <a:t>Thank You!</a:t>
            </a:r>
            <a:endParaRPr b="1" i="0" sz="6000" u="none" cap="none" strike="noStrike">
              <a:solidFill>
                <a:schemeClr val="lt1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25" name="Google Shape;125;p3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(White/Light Blue)(Centered)">
  <p:cSld name="SECTION_HEADER_2">
    <p:bg>
      <p:bgPr>
        <a:solidFill>
          <a:schemeClr val="lt1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1"/>
          <p:cNvSpPr txBox="1"/>
          <p:nvPr>
            <p:ph type="title"/>
          </p:nvPr>
        </p:nvSpPr>
        <p:spPr>
          <a:xfrm>
            <a:off x="311700" y="1592700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6000"/>
              <a:buFont typeface="Fira Sans"/>
              <a:buNone/>
              <a:defRPr b="1" sz="60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8" name="Google Shape;128;p3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&amp; Minimal Text (Centered)">
  <p:cSld name="SECTION_HEADER_2_1">
    <p:bg>
      <p:bgPr>
        <a:solidFill>
          <a:schemeClr val="lt1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2"/>
          <p:cNvSpPr txBox="1"/>
          <p:nvPr>
            <p:ph type="title"/>
          </p:nvPr>
        </p:nvSpPr>
        <p:spPr>
          <a:xfrm>
            <a:off x="311700" y="1592700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6000"/>
              <a:buFont typeface="Fira Sans"/>
              <a:buNone/>
              <a:defRPr b="1" sz="60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1" name="Google Shape;131;p32"/>
          <p:cNvSpPr txBox="1"/>
          <p:nvPr>
            <p:ph idx="1" type="subTitle"/>
          </p:nvPr>
        </p:nvSpPr>
        <p:spPr>
          <a:xfrm>
            <a:off x="2096875" y="3649625"/>
            <a:ext cx="4923600" cy="47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/Title (Top)">
  <p:cSld name="SECTION_HEADER_1">
    <p:bg>
      <p:bgPr>
        <a:solidFill>
          <a:srgbClr val="324158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/>
          <p:nvPr>
            <p:ph type="title"/>
          </p:nvPr>
        </p:nvSpPr>
        <p:spPr>
          <a:xfrm>
            <a:off x="311700" y="398275"/>
            <a:ext cx="8520600" cy="195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Font typeface="Fira Sans"/>
              <a:buNone/>
              <a:defRPr b="1" sz="6000"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35" name="Google Shape;135;p3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1 column) (Black text)" type="tx">
  <p:cSld name="TITLE_AND_BODY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/>
          <p:nvPr/>
        </p:nvSpPr>
        <p:spPr>
          <a:xfrm>
            <a:off x="0" y="0"/>
            <a:ext cx="2309100" cy="5143500"/>
          </a:xfrm>
          <a:prstGeom prst="rect">
            <a:avLst/>
          </a:prstGeom>
          <a:solidFill>
            <a:srgbClr val="3896D2"/>
          </a:solidFill>
          <a:ln>
            <a:noFill/>
          </a:ln>
          <a:effectLst>
            <a:outerShdw blurRad="38100" rotWithShape="0" dir="5400000" dist="25400">
              <a:srgbClr val="000000">
                <a:alpha val="4431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38" name="Google Shape;138;p34"/>
          <p:cNvSpPr txBox="1"/>
          <p:nvPr>
            <p:ph idx="1" type="subTitle"/>
          </p:nvPr>
        </p:nvSpPr>
        <p:spPr>
          <a:xfrm>
            <a:off x="238800" y="477750"/>
            <a:ext cx="18315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28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lvl="2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lvl="3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lvl="4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lvl="5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lvl="6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lvl="7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lvl="8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39" name="Google Shape;139;p34"/>
          <p:cNvSpPr txBox="1"/>
          <p:nvPr>
            <p:ph idx="2" type="body"/>
          </p:nvPr>
        </p:nvSpPr>
        <p:spPr>
          <a:xfrm>
            <a:off x="2471825" y="477750"/>
            <a:ext cx="5700000" cy="43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40" name="Google Shape;140;p3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&amp; Blank (1 column) ">
  <p:cSld name="TITLE_AND_BODY_2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5"/>
          <p:cNvSpPr/>
          <p:nvPr/>
        </p:nvSpPr>
        <p:spPr>
          <a:xfrm>
            <a:off x="0" y="0"/>
            <a:ext cx="2309100" cy="5143500"/>
          </a:xfrm>
          <a:prstGeom prst="rect">
            <a:avLst/>
          </a:prstGeom>
          <a:solidFill>
            <a:srgbClr val="3896D2"/>
          </a:solidFill>
          <a:ln>
            <a:noFill/>
          </a:ln>
          <a:effectLst>
            <a:outerShdw blurRad="38100" rotWithShape="0" dir="5400000" dist="25400">
              <a:srgbClr val="000000">
                <a:alpha val="4431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43" name="Google Shape;143;p35"/>
          <p:cNvSpPr txBox="1"/>
          <p:nvPr>
            <p:ph idx="1" type="subTitle"/>
          </p:nvPr>
        </p:nvSpPr>
        <p:spPr>
          <a:xfrm>
            <a:off x="238800" y="477750"/>
            <a:ext cx="18315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28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lvl="2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lvl="3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lvl="4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lvl="5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lvl="6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lvl="7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lvl="8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44" name="Google Shape;144;p35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(1 column) (Light Blue text)">
  <p:cSld name="TITLE_AND_BODY_1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6"/>
          <p:cNvSpPr/>
          <p:nvPr/>
        </p:nvSpPr>
        <p:spPr>
          <a:xfrm>
            <a:off x="0" y="0"/>
            <a:ext cx="2309100" cy="5143500"/>
          </a:xfrm>
          <a:prstGeom prst="rect">
            <a:avLst/>
          </a:prstGeom>
          <a:solidFill>
            <a:srgbClr val="3896D2"/>
          </a:solidFill>
          <a:ln>
            <a:noFill/>
          </a:ln>
          <a:effectLst>
            <a:outerShdw blurRad="38100" rotWithShape="0" dir="5400000" dist="25400">
              <a:srgbClr val="000000">
                <a:alpha val="4431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FFFFFF"/>
              </a:solidFill>
              <a:latin typeface="Fira Sans"/>
              <a:ea typeface="Fira Sans"/>
              <a:cs typeface="Fira Sans"/>
              <a:sym typeface="Fira Sans"/>
            </a:endParaRPr>
          </a:p>
        </p:txBody>
      </p:sp>
      <p:sp>
        <p:nvSpPr>
          <p:cNvPr id="147" name="Google Shape;147;p36"/>
          <p:cNvSpPr txBox="1"/>
          <p:nvPr>
            <p:ph idx="1" type="subTitle"/>
          </p:nvPr>
        </p:nvSpPr>
        <p:spPr>
          <a:xfrm>
            <a:off x="238800" y="477750"/>
            <a:ext cx="18315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 sz="28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2pPr>
            <a:lvl3pPr lvl="2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3pPr>
            <a:lvl4pPr lvl="3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4pPr>
            <a:lvl5pPr lvl="4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5pPr>
            <a:lvl6pPr lvl="5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6pPr>
            <a:lvl7pPr lvl="6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7pPr>
            <a:lvl8pPr lvl="7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8pPr>
            <a:lvl9pPr lvl="8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48" name="Google Shape;148;p36"/>
          <p:cNvSpPr txBox="1"/>
          <p:nvPr>
            <p:ph idx="2" type="body"/>
          </p:nvPr>
        </p:nvSpPr>
        <p:spPr>
          <a:xfrm>
            <a:off x="2471825" y="477750"/>
            <a:ext cx="5700000" cy="43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49" name="Google Shape;149;p36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(Light blue/White)" type="twoColTx">
  <p:cSld name="TITLE_AND_TWO_COLUMNS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3896D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7"/>
          <p:cNvSpPr txBox="1"/>
          <p:nvPr>
            <p:ph type="title"/>
          </p:nvPr>
        </p:nvSpPr>
        <p:spPr>
          <a:xfrm>
            <a:off x="31170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Fira Sans"/>
              <a:buNone/>
              <a:defRPr sz="32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3" name="Google Shape;153;p3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●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Fira Sans"/>
              <a:buChar char="○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600"/>
              <a:buFont typeface="Fira Sans"/>
              <a:buChar char="■"/>
              <a:defRPr sz="260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54" name="Google Shape;154;p3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55" name="Google Shape;155;p37"/>
          <p:cNvSpPr txBox="1"/>
          <p:nvPr>
            <p:ph idx="3" type="title"/>
          </p:nvPr>
        </p:nvSpPr>
        <p:spPr>
          <a:xfrm>
            <a:off x="487095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6" name="Google Shape;156;p37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(Light blue/White) (Sides Flipped)">
  <p:cSld name="TITLE_AND_TWO_COLUMNS_2">
    <p:bg>
      <p:bgPr>
        <a:solidFill>
          <a:schemeClr val="lt1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8"/>
          <p:cNvSpPr/>
          <p:nvPr/>
        </p:nvSpPr>
        <p:spPr>
          <a:xfrm>
            <a:off x="4584900" y="0"/>
            <a:ext cx="4572000" cy="5143500"/>
          </a:xfrm>
          <a:prstGeom prst="rect">
            <a:avLst/>
          </a:prstGeom>
          <a:solidFill>
            <a:srgbClr val="3896D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8"/>
          <p:cNvSpPr txBox="1"/>
          <p:nvPr>
            <p:ph type="title"/>
          </p:nvPr>
        </p:nvSpPr>
        <p:spPr>
          <a:xfrm>
            <a:off x="31170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0" name="Google Shape;160;p3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●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896D2"/>
              </a:buClr>
              <a:buSzPts val="2600"/>
              <a:buFont typeface="Fira Sans"/>
              <a:buChar char="○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896D2"/>
              </a:buClr>
              <a:buSzPts val="2600"/>
              <a:buFont typeface="Fira Sans"/>
              <a:buChar char="■"/>
              <a:defRPr sz="26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61" name="Google Shape;161;p3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●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○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■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●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○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■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●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Fira Sans"/>
              <a:buChar char="○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2600"/>
              <a:buFont typeface="Fira Sans"/>
              <a:buChar char="■"/>
              <a:defRPr sz="26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62" name="Google Shape;162;p38"/>
          <p:cNvSpPr txBox="1"/>
          <p:nvPr>
            <p:ph idx="3" type="title"/>
          </p:nvPr>
        </p:nvSpPr>
        <p:spPr>
          <a:xfrm>
            <a:off x="487095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Fira Sans"/>
              <a:buNone/>
              <a:defRPr sz="3200"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Sans"/>
              <a:buNone/>
              <a:defRPr>
                <a:solidFill>
                  <a:schemeClr val="lt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63" name="Google Shape;163;p38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s (Light Blue/White) (Black Text)">
  <p:cSld name="TITLE_AND_TWO_COLUMNS_1">
    <p:bg>
      <p:bgPr>
        <a:solidFill>
          <a:schemeClr val="lt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9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3896D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39"/>
          <p:cNvSpPr txBox="1"/>
          <p:nvPr>
            <p:ph type="title"/>
          </p:nvPr>
        </p:nvSpPr>
        <p:spPr>
          <a:xfrm>
            <a:off x="31170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Fira Sans"/>
              <a:buNone/>
              <a:defRPr sz="32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7" name="Google Shape;167;p3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●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○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■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●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○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■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●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Fira Sans"/>
              <a:buChar char="○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2600"/>
              <a:buFont typeface="Fira Sans"/>
              <a:buChar char="■"/>
              <a:defRPr sz="260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68" name="Google Shape;168;p3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937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●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93700" lvl="1" marL="914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○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93700" lvl="2" marL="1371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■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93700" lvl="3" marL="18288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●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93700" lvl="4" marL="22860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○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93700" lvl="5" marL="2743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■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93700" lvl="6" marL="32004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●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93700" lvl="7" marL="36576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Fira Sans"/>
              <a:buChar char="○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93700" lvl="8" marL="411480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600"/>
              <a:buFont typeface="Fira Sans"/>
              <a:buChar char="■"/>
              <a:defRPr sz="26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69" name="Google Shape;169;p39"/>
          <p:cNvSpPr txBox="1"/>
          <p:nvPr>
            <p:ph idx="3" type="title"/>
          </p:nvPr>
        </p:nvSpPr>
        <p:spPr>
          <a:xfrm>
            <a:off x="4870950" y="285775"/>
            <a:ext cx="39999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Font typeface="Fira Sans"/>
              <a:buNone/>
              <a:defRPr sz="3200"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0" name="Google Shape;170;p39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Arrow (Light Blue Text)">
  <p:cSld name="TITLE_AND_TWO_COLUMNS_1_1">
    <p:bg>
      <p:bgPr>
        <a:solidFill>
          <a:schemeClr val="lt1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0"/>
          <p:cNvSpPr txBox="1"/>
          <p:nvPr>
            <p:ph type="title"/>
          </p:nvPr>
        </p:nvSpPr>
        <p:spPr>
          <a:xfrm>
            <a:off x="23925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3" name="Google Shape;173;p40"/>
          <p:cNvSpPr txBox="1"/>
          <p:nvPr>
            <p:ph idx="2" type="title"/>
          </p:nvPr>
        </p:nvSpPr>
        <p:spPr>
          <a:xfrm>
            <a:off x="564640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4" name="Google Shape;174;p40"/>
          <p:cNvSpPr/>
          <p:nvPr/>
        </p:nvSpPr>
        <p:spPr>
          <a:xfrm>
            <a:off x="3795750" y="2040900"/>
            <a:ext cx="1552500" cy="106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324158"/>
          </a:solidFill>
          <a:ln cap="flat" cmpd="sng" w="9525">
            <a:solidFill>
              <a:srgbClr val="3241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40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with Arrow (Black Text)">
  <p:cSld name="TITLE_AND_TWO_COLUMNS_1_1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1"/>
          <p:cNvSpPr txBox="1"/>
          <p:nvPr>
            <p:ph type="title"/>
          </p:nvPr>
        </p:nvSpPr>
        <p:spPr>
          <a:xfrm>
            <a:off x="23925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78" name="Google Shape;178;p41"/>
          <p:cNvSpPr txBox="1"/>
          <p:nvPr>
            <p:ph idx="2" type="title"/>
          </p:nvPr>
        </p:nvSpPr>
        <p:spPr>
          <a:xfrm>
            <a:off x="5646400" y="1832850"/>
            <a:ext cx="3264300" cy="14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3200"/>
              <a:buFont typeface="Fira Sans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None/>
              <a:defRPr>
                <a:solidFill>
                  <a:srgbClr val="3896D2"/>
                </a:solidFill>
              </a:defRPr>
            </a:lvl9pPr>
          </a:lstStyle>
          <a:p/>
        </p:txBody>
      </p:sp>
      <p:sp>
        <p:nvSpPr>
          <p:cNvPr id="179" name="Google Shape;179;p41"/>
          <p:cNvSpPr/>
          <p:nvPr/>
        </p:nvSpPr>
        <p:spPr>
          <a:xfrm>
            <a:off x="3795750" y="2040900"/>
            <a:ext cx="1552500" cy="10617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324158"/>
          </a:solidFill>
          <a:ln cap="flat" cmpd="sng" w="9525">
            <a:solidFill>
              <a:srgbClr val="32415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A7B17"/>
          </p15:clr>
        </p15:guide>
        <p15:guide id="2" pos="2880">
          <p15:clr>
            <a:srgbClr val="FA7B17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aded White)">
  <p:cSld name="BLANK_2">
    <p:bg>
      <p:bgPr>
        <a:solidFill>
          <a:srgbClr val="F0F3F6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2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Navy Blue)">
  <p:cSld name="BLANK_1">
    <p:bg>
      <p:bgPr>
        <a:solidFill>
          <a:srgbClr val="324158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43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Light Blue)">
  <p:cSld name="BLANK_1_1">
    <p:bg>
      <p:bgPr>
        <a:solidFill>
          <a:srgbClr val="3896D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Fira Sans"/>
              <a:buNone/>
              <a:defRPr sz="5200"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89" name="Google Shape;189;p4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"/>
              <a:buNone/>
              <a:defRPr sz="2800">
                <a:latin typeface="Fira Sans"/>
                <a:ea typeface="Fira Sans"/>
                <a:cs typeface="Fira Sans"/>
                <a:sym typeface="Fira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0" name="Google Shape;190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93" name="Google Shape;193;p4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94" name="Google Shape;194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5">
  <p:cSld name="TITLE_AND_BODY_5"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b="1" sz="3200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7" name="Google Shape;197;p4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Fira Sans"/>
              <a:buAutoNum type="arabicPeriod"/>
              <a:defRPr sz="20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alphaL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romanL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arabi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alphaL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romanL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arabi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Sans"/>
              <a:buAutoNum type="alphaL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Sans"/>
              <a:buAutoNum type="romanLcPeriod"/>
              <a:defRPr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98" name="Google Shape;198;p47"/>
          <p:cNvSpPr txBox="1"/>
          <p:nvPr>
            <p:ph idx="12" type="sldNum"/>
          </p:nvPr>
        </p:nvSpPr>
        <p:spPr>
          <a:xfrm>
            <a:off x="8595300" y="9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37.xml"/><Relationship Id="rId16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0.xml"/><Relationship Id="rId19" Type="http://schemas.openxmlformats.org/officeDocument/2006/relationships/slideLayout" Target="../slideLayouts/slideLayout41.xml"/><Relationship Id="rId20" Type="http://schemas.openxmlformats.org/officeDocument/2006/relationships/slideLayout" Target="../slideLayouts/slideLayout42.xml"/><Relationship Id="rId21" Type="http://schemas.openxmlformats.org/officeDocument/2006/relationships/slideLayout" Target="../slideLayouts/slideLayout43.xml"/><Relationship Id="rId22" Type="http://schemas.openxmlformats.org/officeDocument/2006/relationships/slideLayout" Target="../slideLayouts/slideLayout44.xml"/><Relationship Id="rId23" Type="http://schemas.openxmlformats.org/officeDocument/2006/relationships/slideLayout" Target="../slideLayouts/slideLayout45.xml"/><Relationship Id="rId2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324158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Font typeface="Fira Sans"/>
              <a:buNone/>
              <a:defRPr b="0" i="0" sz="28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ira Sans"/>
              <a:buChar char="●"/>
              <a:defRPr b="0" i="0" sz="18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○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■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●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○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■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●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○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Fira Sans"/>
              <a:buChar char="■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324158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896D2"/>
              </a:buClr>
              <a:buSzPts val="2800"/>
              <a:buFont typeface="Fira Sans"/>
              <a:buNone/>
              <a:defRPr b="0" i="0" sz="2800" u="none" cap="none" strike="noStrike">
                <a:solidFill>
                  <a:srgbClr val="3896D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0" i="0" sz="2800" u="none" cap="none" strike="noStrik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02" name="Google Shape;102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Fira Sans"/>
              <a:buChar char="●"/>
              <a:defRPr b="0" i="0" sz="18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○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■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●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○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■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●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Fira Sans"/>
              <a:buChar char="○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Fira Sans"/>
              <a:buChar char="■"/>
              <a:defRPr b="0" i="0" sz="14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103" name="Google Shape;103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  <p:sldLayoutId id="2147483687" r:id="rId18"/>
    <p:sldLayoutId id="2147483688" r:id="rId19"/>
    <p:sldLayoutId id="2147483689" r:id="rId20"/>
    <p:sldLayoutId id="2147483690" r:id="rId21"/>
    <p:sldLayoutId id="2147483691" r:id="rId22"/>
    <p:sldLayoutId id="214748369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000" b="1">
                <a:solidFill>
                  <a:srgbClr val="00B0F0"/>
                </a:solidFill>
                <a:latin typeface="Fira Sans"/>
              </a:defRPr>
            </a:pPr>
            <a:r>
              <a:t>AI Use Case &amp; Metrics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000" b="0">
                <a:solidFill>
                  <a:srgbClr val="666666"/>
                </a:solidFill>
                <a:latin typeface="Fira Sans"/>
              </a:defRPr>
            </a:pPr>
            <a:r>
              <a:t>Problem Framing  |  Success Metrics  |  MVP Scope</a:t>
            </a:r>
          </a:p>
          <a:p>
            <a:pPr algn="ctr">
              <a:defRPr sz="1600" b="0">
                <a:solidFill>
                  <a:srgbClr val="999999"/>
                </a:solidFill>
                <a:latin typeface="Fira Sans"/>
              </a:defRPr>
            </a:pPr>
            <a:r>
              <a:t>Instructor: Mical Neill  |  Interview Prep / Live Class  |  Feb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0F0"/>
                </a:solidFill>
                <a:latin typeface="Fira Sans"/>
              </a:defRPr>
            </a:pPr>
            <a:r>
              <a:t>Instructor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Fira Sans"/>
              </a:defRPr>
            </a:pPr>
            <a:r>
              <a:t>Mical Neill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7 years in AWS Knowledge Architecture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Currently building multi-agent systems for product strategy and research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2D2D2D"/>
                </a:solidFill>
                <a:latin typeface="Fira Sans"/>
              </a:defRPr>
            </a:pPr>
            <a:r>
              <a:t>Background: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Designed knowledge systems at scale (AWS)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Built and shipped agentic AI applications in production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Mapped 127 AI companies across 12 use cases for this class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2D2D2D"/>
                </a:solidFill>
                <a:latin typeface="Fira Sans"/>
              </a:defRPr>
            </a:pPr>
            <a:r>
              <a:t>Teaching Philosophy (from IK):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Learn patterns, not memorized answers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Prepare for unseen problems with transferable frameworks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600" b="1">
                <a:solidFill>
                  <a:srgbClr val="00B0F0"/>
                </a:solidFill>
                <a:latin typeface="Fira Sans"/>
              </a:rPr>
              <a:t>Today's 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D2D2D"/>
                </a:solidFill>
                <a:latin typeface="Fira Sans"/>
              </a:rPr>
              <a:t>5 sections, each mapped to an Instructional Design Principle: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D2D2D"/>
                </a:solidFill>
                <a:latin typeface="Fira Sans"/>
              </a:rPr>
              <a:t>1. Gain Attention — The interview trap everyone falls into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D2D2D"/>
                </a:solidFill>
                <a:latin typeface="Fira Sans"/>
              </a:rPr>
              <a:t>2. State Objectives — What you'll be able to do after this class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D2D2D"/>
                </a:solidFill>
                <a:latin typeface="Fira Sans"/>
              </a:rPr>
              <a:t>3. Present Information — Frameworks: 4-Question Method, Market Validation, MVP Scope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D2D2D"/>
                </a:solidFill>
                <a:latin typeface="Fira Sans"/>
              </a:rPr>
              <a:t>4. Assess Performance — Two live interview scenarios (mature vs. emerging market)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D2D2D"/>
                </a:solidFill>
                <a:latin typeface="Fira Sans"/>
              </a:rPr>
              <a:t>5. Provide Feedback — Common mistakes + decision framework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2D2D2D"/>
                </a:solidFill>
                <a:latin typeface="Fira Sans"/>
              </a:rPr>
              <a:t>Based on Gagné's Events of Instruction — applied to AI product thinking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FFFFF"/>
                </a:solidFill>
                <a:latin typeface="Fira Sans"/>
              </a:defRPr>
            </a:pPr>
            <a:r>
              <a:t>PRINCIPLE 1 — Gain Attention</a:t>
            </a:r>
          </a:p>
          <a:p>
            <a:pPr>
              <a:defRPr sz="2200" b="0">
                <a:solidFill>
                  <a:srgbClr val="999999"/>
                </a:solidFill>
                <a:latin typeface="Fira Sans"/>
              </a:defRPr>
            </a:pPr>
            <a:r>
              <a:t>The trap that kills most AI interview answers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00B0F0"/>
                </a:solidFill>
                <a:latin typeface="Fira Sans"/>
              </a:rPr>
              <a:t>The Hook: The Interview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Common interview questions: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"How would you evaluate if [problem] is a good fit for AI?"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"A customer wants to build [AI solution]. How do you assess viability?"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"What metrics would you use to determine success?"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The Trap: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Jumping to solutions without validating the problem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"We'll use GPT-4 with RAG and fine-tune on their data..."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What Interviewers Actually Want: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Structured thinking — a repeatable framework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Risk awareness — not just optimism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Metrics-first approach — define success before building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Today: a framework that works for any AI use case question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FFFFF"/>
                </a:solidFill>
                <a:latin typeface="Fira Sans"/>
              </a:defRPr>
            </a:pPr>
            <a:r>
              <a:t>PRINCIPLE 2 — State the Learning Objective</a:t>
            </a:r>
          </a:p>
          <a:p>
            <a:pPr>
              <a:defRPr sz="2200" b="0">
                <a:solidFill>
                  <a:srgbClr val="999999"/>
                </a:solidFill>
                <a:latin typeface="Fira Sans"/>
              </a:defRPr>
            </a:pPr>
            <a:r>
              <a:t>What you'll be able to do after this class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600" b="1">
                <a:solidFill>
                  <a:srgbClr val="00B0F0"/>
                </a:solidFill>
                <a:latin typeface="Fira Sans"/>
              </a:rPr>
              <a:t>Learning Objectives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By the end of this class, you will be able to: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1. Frame problems to determine if AI is a good fit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Using the 4-Question Method: pattern, data, volume, measurability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2. Assess market validation using company and funding data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Funded companies = market validation signal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3. Apply a repeatable framework: "Is this a good AI use case?"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Structured approach that works for any AI scenario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4. Differentiate mature vs. emerging AI markets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Different risks require different recommendations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00B0F0"/>
                </a:solidFill>
                <a:latin typeface="Fira Sans"/>
              </a:rPr>
              <a:t>Why This Matters — For Your Interview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What interviewers look for by role: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PM: Customer empathy, market awareness, prioritization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Can you separate real problems from shiny tech?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TPM: Risk identification, execution planning, feasibility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Can you scope what's buildable vs. aspirational?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EM: Technical depth, team scoping, reliability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Can you assess whether AI actually helps here?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The pattern-based approach (from IK):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Learn frameworks, not memorize answers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Prepare for unseen problems with transferable thinking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FFFFF"/>
                </a:solidFill>
                <a:latin typeface="Fira Sans"/>
              </a:defRPr>
            </a:pPr>
            <a:r>
              <a:t>PRINCIPLE 3 — Present Information</a:t>
            </a:r>
          </a:p>
          <a:p>
            <a:pPr>
              <a:defRPr sz="2200" b="0">
                <a:solidFill>
                  <a:srgbClr val="999999"/>
                </a:solidFill>
                <a:latin typeface="Fira Sans"/>
              </a:defRPr>
            </a:pPr>
            <a:r>
              <a:t>Chunked into 4 modules (avoid cognitive overload)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00B0F0"/>
                </a:solidFill>
                <a:latin typeface="Fira Sans"/>
              </a:rPr>
              <a:t>Framework: The 4-Question Method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Before building anything, run every AI use case through 4 questions: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1. Is there a pattern?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Can this be solved by recognizing patterns in data?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2. Is there data?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Enough quality data to train, fine-tune, or retrieve from?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3. Is it repetitive or high-volume?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Does this happen often enough to justify AI investment?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4. Can you measure success?</a:t>
            </a:r>
          </a:p>
          <a:p>
            <a:pPr lvl="1">
              <a:spcAft>
                <a:spcPts val="400"/>
              </a:spcAft>
            </a:pPr>
            <a:r>
              <a:rPr sz="1600" b="0">
                <a:solidFill>
                  <a:srgbClr val="2D2D2D"/>
                </a:solidFill>
                <a:latin typeface="Fira Sans"/>
              </a:rPr>
              <a:t>Are there clear metrics to know if AI is working?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2D2D2D"/>
                </a:solidFill>
                <a:latin typeface="Fira Sans"/>
              </a:rPr>
              <a:t>All 4 must be YES or CHECKABLE before proceeding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B0F0"/>
                </a:solidFill>
                <a:latin typeface="Fira Sans"/>
              </a:rPr>
              <a:t>Q1: Is There a Pattern?  |  Q2: Is There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Good AI Fit (Pattern):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Customer support tickets — common questions recur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Code completion — syntax and context are predictable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Document extraction — invoices have structure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Poor AI Fit (No Pattern):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One-off strategic decisions, creative brand positioning, novel research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Good AI Fit (Data):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Historical conversations (thousands of examples)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Public code repos (billions of lines)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Existing documents (structured/semi-structured)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Poor AI Fit (No Data):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Brand new process, highly sensitive/inaccessible data, rare events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Key insight: AI is pattern recognition, not magic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B0F0"/>
                </a:solidFill>
                <a:latin typeface="Fira Sans"/>
              </a:rPr>
              <a:t>Q3: Is It Repetitive?  |  Q4: Can You Measure?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Good AI Fit (Volume):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10,000+ support tickets/month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Developers writing code daily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1,000+ documents processed per week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Poor AI Fit (Low Volume):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Quarterly strategic planning (4x/year)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Annual compliance audits (1x/year)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Key insight: ROI requires volume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Good Metrics (Measurable):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Support: resolution time, CSAT, ticket deflection rate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Code: acceptance rate, time saved, bugs introduced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Documents: extraction accuracy, processing time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Poor Metrics (Vague):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"Make our brand more innovative" or "improve morale"</a:t>
            </a:r>
          </a:p>
          <a:p>
            <a:pPr lvl="1"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Key insight: Define metrics before building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B0F0"/>
                </a:solidFill>
                <a:latin typeface="Fira Sans"/>
              </a:rPr>
              <a:t>Market Validation Framework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Funded companies = market validation  (127 companies mapped across 12 use cases)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HIGH Validation: 20+ companies, $500M+ total funding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Sales &amp; GTM: 25+ co's, $2B+ (Gong, Clari, Outreach)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Customer Support: 20+ co's, $700M+ (Intercom, Ada, Forethought)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Document Processing: 20+ co's, $600M+ (Hyperscience, Rossum, Instabase)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Dev Productivity: 30+ co's, $500M+ (Cursor, Tabnine, Codeium, Replit)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Knowledge Mgmt: 20+ co's, $450M+ (Glean, Notion AI, Perplexity)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Risk: Differentiation in a crowded market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MEDIUM Validation: 5-20 companies, $100M-$500M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Agentic Orchestration: 15 co's, $150M+ — 80% agent-native, founded 2022-23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AI Governance: 8-10 co's, growing with regulation (Credo AI, Arthur, Fiddler)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AI Infra/MLOps: 10+ co's (W&amp;B, Comet, LangSmith, Helicone)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Risk: Category still being defined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LOW / White Space: 0-5 companies, &lt;$50M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AI Decision Logs, Internal Demo Generation, Agent-Specific Patterns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Risk: Market may not exist — but could be an opportunity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 b="1">
                <a:solidFill>
                  <a:srgbClr val="00B0F0"/>
                </a:solidFill>
                <a:latin typeface="Fira Sans"/>
              </a:rPr>
              <a:t>Real Data: 127 Companies Across 12 AI Use Cases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Research: 127 companies mapped, 23 agent-native, Seed through Series F+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Highest Funded Use Cases: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Sales &amp; GTM: Gong $584M, Clari $576M, Outreach $489M, Apollo $100M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Customer Support: Intercom $240M, Ada $190M, Kustomer $174M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Document Processing: Hyperscience $218M, Instabase $132M, Rossum $100M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RAG Infrastructure: Pinecone $138M, Weaviate $67M, Vectara $28M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Knowledge Mgmt: Glean $360M, Notion AI $343M, Perplexity $100M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Emerging / Agent-Native: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Orchestration: LangChain $35M, Fixie $17M, Dust $16M, Lindy $3M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Workflow Automation: Zapier $1.3B, Make $38M, Bardeen $18M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AI Evaluation: Patronus $17M, Braintrust $5M, Humanloop $5M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Gap / White Space (0 dedicated companies):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AI Decision Logs, Internal Demo Generation, Agent-Specific Patterns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00B0F0"/>
                </a:solidFill>
                <a:latin typeface="Fira Sans"/>
              </a:rPr>
              <a:t>Success Metrics &amp; Evaluation Readiness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Metrics should be time-phased: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Early (0-3 months):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Accuracy on core task (e.g., 85% on top 10 question types)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User adoption rate, error rate baseline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Medium (3-6 months):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Business impact (e.g., 30% ticket deflection, 50% time saved)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Active users at scale, cost per interaction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Long-term (6+ months):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Sustained quality (CSAT maintained), cost reduction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Expansion to adjacent use cases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Evaluation readiness: can you measure TODAY?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If no baseline data exists, that's your first milestone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00B0F0"/>
                </a:solidFill>
                <a:latin typeface="Fira Sans"/>
              </a:rPr>
              <a:t>MVP Scope &amp; Prioritization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The 80/20 rule for AI MVPs: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Solve the top 10 use cases, not all of them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MVP scoping principles: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ONE workflow, not "automate everything"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3-5 integrations, not the entire tool ecosystem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Human-in-the-loop for edge cases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Prioritization criteria: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Volume: how often does this task happen?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Data readiness: is training/retrieval data available?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Measurability: can we prove success in 90 days?</a:t>
            </a:r>
          </a:p>
          <a:p>
            <a:pPr lvl="1">
              <a:spcAft>
                <a:spcPts val="400"/>
              </a:spcAft>
            </a:pPr>
            <a:r>
              <a:rPr sz="1500" b="0">
                <a:solidFill>
                  <a:srgbClr val="2D2D2D"/>
                </a:solidFill>
                <a:latin typeface="Fira Sans"/>
              </a:rPr>
              <a:t>Risk tolerance: what happens when AI is wrong?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D2D2D"/>
                </a:solidFill>
                <a:latin typeface="Fira Sans"/>
              </a:rPr>
              <a:t>Red flag: if you can't scope the MVP to one sentence, it's too broad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FFFFF"/>
                </a:solidFill>
                <a:latin typeface="Fira Sans"/>
              </a:defRPr>
            </a:pPr>
            <a:r>
              <a:t>PRINCIPLE 4 — Assess Performance</a:t>
            </a:r>
          </a:p>
          <a:p>
            <a:pPr>
              <a:defRPr sz="2200" b="0">
                <a:solidFill>
                  <a:srgbClr val="999999"/>
                </a:solidFill>
                <a:latin typeface="Fira Sans"/>
              </a:defRPr>
            </a:pPr>
            <a:r>
              <a:t>Two live interview scenarios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B0F0"/>
                </a:solidFill>
                <a:latin typeface="Fira Sans"/>
              </a:rPr>
              <a:t>Scenario 1: Mature Market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Interview question: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"A customer wants to build an AI-powered customer support chatbot."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"How would you evaluate if this is a good idea?"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Apply the 4-Question Method: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Pattern? YES — common questions, resolution paths recur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Data? CHECK — need 6+ months of historical tickets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Repetitive? CHECK — need 1,000+ tickets/month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Measurable? YES — deflection rate, CSAT, resolution time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Market validation: 20+ companies, $700M+  —  HIGH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Intercom $240M, Ada $190M, Kustomer $174M, Forethought $92M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Challenge is differentiation, not viability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MVP: Top 10 question types (80/20 rule)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Metrics: 85% accuracy (0-3mo), 30% deflection (3-6mo), CSAT maintained (6+mo)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B0F0"/>
                </a:solidFill>
                <a:latin typeface="Fira Sans"/>
              </a:rPr>
              <a:t>Scenario 2: Emerging Category Risk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Interview question: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"A customer wants to build an agentic workflow automation platform."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"How would you evaluate this?"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Apply the 4-Question Method: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Pattern? MAYBE — workflows have patterns, but complex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Data? PARTIAL — individual tools yes, cross-tool less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Repetitive? YES — if targeting common workflows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Measurable? YES — time saved, error rate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Market validation: 15 co's, $150M+  —  EMERGING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LangChain $35M, Fixie $17M, Dust $16M, Lindy $3M — all founded 2022-23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23 agent-native companies in this space — 80% in this cluster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MVP: ONE workflow, 3-5 tools, human-in-the-loop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D2D2D"/>
                </a:solidFill>
                <a:latin typeface="Fira Sans"/>
              </a:rPr>
              <a:t>Metrics: 70% completion (0-3mo), 50% time saved (3-6mo)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2D2D2D"/>
                </a:solidFill>
                <a:latin typeface="Fira Sans"/>
              </a:rPr>
              <a:t>Key difference: mature = differentiation risk, emerging = category + reliability risk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FFFFFF"/>
                </a:solidFill>
                <a:latin typeface="Fira Sans"/>
              </a:defRPr>
            </a:pPr>
            <a:r>
              <a:t>PRINCIPLE 5 — Provide Feedback</a:t>
            </a:r>
          </a:p>
          <a:p>
            <a:pPr>
              <a:defRPr sz="2200" b="0">
                <a:solidFill>
                  <a:srgbClr val="999999"/>
                </a:solidFill>
                <a:latin typeface="Fira Sans"/>
              </a:defRPr>
            </a:pPr>
            <a:r>
              <a:t>Reinforce the framework, identify common mistakes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B0F0"/>
                </a:solidFill>
                <a:latin typeface="Fira Sans"/>
              </a:rPr>
              <a:t>Common Mistakes in AI Use Case Interviews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Mistake 1: Jumping to solutions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BAD: "We'll use GPT-4 with RAG..."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GOOD: "Let me validate AI suitability first..."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Mistake 2: Ignoring market validation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BAD: "Great idea, let's build!"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GOOD: "I see 20+ companies with $700M funding — differentiation is key"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Mistake 3: Vague metrics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BAD: "Measure user satisfaction"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GOOD: "85% accuracy on top 10, 30% deflection rate by month 6"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Mistake 4: Ignoring risks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BAD: "AI can solve this easily!"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GOOD: "Risk is differentiation in a crowded market"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Mistake 5: Over-scoping the MVP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BAD: "Automate all support"  |  GOOD: "MVP: Top 10 question types"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00B0F0"/>
                </a:solidFill>
                <a:latin typeface="Fira Sans"/>
              </a:rPr>
              <a:t>Key Takeaways &amp;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5 takeaways — one per instructional design principle: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1. Gain Attention — Don't fall into the solution-first trap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Interviewers want structured thinking, not tech enthusiasm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2. Objectives — Use the 4-Question Method every time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Pattern? Data? Volume? Measurable? — all must pass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3. Information — Market validation = funded companies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High validation = differentiation risk. Low = existence risk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4. Assessment — Time-phase your metrics (0-3, 3-6, 6+ months)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Scope MVP aggressively: one workflow, measurable in 90 days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5. Feedback — Name risks explicitly, avoid the 5 common mistakes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D2D2D"/>
                </a:solidFill>
                <a:latin typeface="Fira Sans"/>
              </a:rPr>
              <a:t>Mature market ≠ emerging market — different risks, different recs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2D2D2D"/>
                </a:solidFill>
                <a:latin typeface="Fira Sans"/>
              </a:rPr>
              <a:t>Pattern-based learning: prepare for unseen problems, not memorized solutions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B0F0"/>
                </a:solidFill>
                <a:latin typeface="Fira Sans"/>
              </a:defRPr>
            </a:pPr>
            <a:r>
              <a:t>Live Demo: AI Use Case Evaluator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  <a:defRPr sz="1600" b="1">
                <a:solidFill>
                  <a:srgbClr val="2D2D2D"/>
                </a:solidFill>
                <a:latin typeface="Fira Sans"/>
              </a:defRPr>
            </a:pPr>
            <a:r>
              <a:t>You just learned the framework. Now watch an agent apply it.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One prompt. Any use case. Full evaluation in ~30 seconds.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2D2D2D"/>
                </a:solidFill>
                <a:latin typeface="Fira Sans"/>
              </a:defRPr>
            </a:pPr>
            <a:r>
              <a:t>What it builds: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4-Question Method analysis (pattern, data, volume, measurable)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Market validation signal (company count + funding tier)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MVP scope (one sentence + constraints)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Time-phased metrics (0-3mo, 3-6mo, 6+mo)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Risk assessment + recommendation (go / conditional / no-go)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</a:p>
          <a:p>
            <a:pPr algn="l">
              <a:spcAft>
                <a:spcPts val="300"/>
              </a:spcAft>
              <a:defRPr sz="1600" b="1">
                <a:solidFill>
                  <a:srgbClr val="2D2D2D"/>
                </a:solidFill>
                <a:latin typeface="Fira Sans"/>
              </a:defRPr>
            </a:pPr>
            <a:r>
              <a:t>Audience: suggest a use case.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Example: "AI-powered resume screening for recruiters"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Example: "AI that detects fraudulent insurance claims"</a:t>
            </a:r>
          </a:p>
          <a:p>
            <a:pPr algn="l">
              <a:spcAft>
                <a:spcPts val="300"/>
              </a:spcAft>
              <a:defRPr sz="1600" b="0">
                <a:solidFill>
                  <a:srgbClr val="2D2D2D"/>
                </a:solidFill>
                <a:latin typeface="Fira Sans"/>
              </a:defRPr>
            </a:pPr>
            <a:r>
              <a:t>  Example: "AI copilot for financial advisors"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K.Presentation.Theme.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IK.Presentation.Theme.1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